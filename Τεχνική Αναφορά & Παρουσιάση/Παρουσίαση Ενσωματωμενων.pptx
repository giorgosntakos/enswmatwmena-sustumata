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91"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Ενότητα σύνοψης" id="{79780F2D-01F4-4138-810F-3D132544C809}">
          <p14:sldIdLst/>
        </p14:section>
        <p14:section name="ΕΝΣΩΜΑΤΩΜΕΝΑ ΣΥΣΤΗΜΑΤΑ" id="{15F5C899-C5DC-41CC-937F-2ACB70C0342F}">
          <p14:sldIdLst>
            <p14:sldId id="256"/>
          </p14:sldIdLst>
        </p14:section>
        <p14:section name="ΠερΊληψη " id="{7E28AA39-509F-4864-B37C-385469855B80}">
          <p14:sldIdLst>
            <p14:sldId id="257"/>
            <p14:sldId id="258"/>
            <p14:sldId id="259"/>
          </p14:sldIdLst>
        </p14:section>
        <p14:section name="Ανάγκες του HUD(2)" id="{859D80C7-2349-4EA4-8320-3AF5215C3EA2}">
          <p14:sldIdLst>
            <p14:sldId id="260"/>
          </p14:sldIdLst>
        </p14:section>
        <p14:section name="Ανάγκες του HUD(3)" id="{A27110D7-67E3-402B-9BB2-EFA5B8783D50}">
          <p14:sldIdLst>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0000"/>
    <a:srgbClr val="BF15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232C56-0CA8-469D-99C6-C7057CF6CA39}" v="1" dt="2021-01-18T21:33:12.5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p:scale>
          <a:sx n="100" d="100"/>
          <a:sy n="100" d="100"/>
        </p:scale>
        <p:origin x="990" y="3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Γιωργος" userId="6159cf557798fb97" providerId="LiveId" clId="{C7232C56-0CA8-469D-99C6-C7057CF6CA39}"/>
    <pc:docChg chg="modSld">
      <pc:chgData name="Γιωργος" userId="6159cf557798fb97" providerId="LiveId" clId="{C7232C56-0CA8-469D-99C6-C7057CF6CA39}" dt="2021-01-18T21:33:19.938" v="8" actId="20577"/>
      <pc:docMkLst>
        <pc:docMk/>
      </pc:docMkLst>
      <pc:sldChg chg="modSp">
        <pc:chgData name="Γιωργος" userId="6159cf557798fb97" providerId="LiveId" clId="{C7232C56-0CA8-469D-99C6-C7057CF6CA39}" dt="2021-01-18T21:33:19.938" v="8" actId="20577"/>
        <pc:sldMkLst>
          <pc:docMk/>
          <pc:sldMk cId="2294326135" sldId="280"/>
        </pc:sldMkLst>
        <pc:spChg chg="mod">
          <ac:chgData name="Γιωργος" userId="6159cf557798fb97" providerId="LiveId" clId="{C7232C56-0CA8-469D-99C6-C7057CF6CA39}" dt="2021-01-18T21:33:19.938" v="8" actId="20577"/>
          <ac:spMkLst>
            <pc:docMk/>
            <pc:sldMk cId="2294326135" sldId="280"/>
            <ac:spMk id="3" creationId="{58D602CD-512F-4C88-84F9-C97A50B3384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Θέση ημερομηνίας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1511D8-6389-46EE-9852-E494B8A70FAA}" type="datetimeFigureOut">
              <a:rPr lang="el-GR" smtClean="0"/>
              <a:t>18/1/2021</a:t>
            </a:fld>
            <a:endParaRPr lang="el-GR"/>
          </a:p>
        </p:txBody>
      </p:sp>
      <p:sp>
        <p:nvSpPr>
          <p:cNvPr id="4" name="Θέση εικόνας διαφάνειας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Θέση σημειώσεων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6" name="Θέση υποσέλιδου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Θέση αριθμού διαφάνειας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78A2E2-58CD-4C4C-8413-35224CE9293F}" type="slidenum">
              <a:rPr lang="el-GR" smtClean="0"/>
              <a:t>‹#›</a:t>
            </a:fld>
            <a:endParaRPr lang="el-GR"/>
          </a:p>
        </p:txBody>
      </p:sp>
    </p:spTree>
    <p:extLst>
      <p:ext uri="{BB962C8B-B14F-4D97-AF65-F5344CB8AC3E}">
        <p14:creationId xmlns:p14="http://schemas.microsoft.com/office/powerpoint/2010/main" val="3334041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1/18/2021</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52574240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F6FA2B21-3FCD-4721-B95C-427943F61125}" type="datetime1">
              <a:rPr lang="en-US" smtClean="0"/>
              <a:t>1/18/2021</a:t>
            </a:fld>
            <a:endParaRPr lang="en-US"/>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10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3950285974"/>
      </p:ext>
    </p:extLst>
  </p:cSld>
  <p:clrMap bg1="lt1" tx1="dk1" bg2="lt2" tx2="dk2" accent1="accent1" accent2="accent2" accent3="accent3" accent4="accent4" accent5="accent5" accent6="accent6" hlink="hlink" folHlink="folHlink"/>
  <p:sldLayoutIdLst>
    <p:sldLayoutId id="2147483987" r:id="rId1"/>
  </p:sldLayoutIdLst>
  <p:hf sldNum="0" hdr="0" ftr="0" dt="0"/>
  <p:txStyles>
    <p:titleStyle>
      <a:lvl1pPr algn="l" defTabSz="914400" rtl="0" eaLnBrk="1" latinLnBrk="0" hangingPunct="1">
        <a:lnSpc>
          <a:spcPct val="90000"/>
        </a:lnSpc>
        <a:spcBef>
          <a:spcPct val="0"/>
        </a:spcBef>
        <a:buNone/>
        <a:defRPr lang="en-US" sz="48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giorgos-1001@hotmail.com" TargetMode="Externa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7.jpe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Εικόνα 6" descr="Εικόνα που περιέχει κείμενο, ηλεκτρονικές συσκευές&#10;&#10;Περιγραφή που δημιουργήθηκε αυτόματα">
            <a:extLst>
              <a:ext uri="{FF2B5EF4-FFF2-40B4-BE49-F238E27FC236}">
                <a16:creationId xmlns:a16="http://schemas.microsoft.com/office/drawing/2014/main" id="{87D93D65-1C69-4A56-9686-D8FE9D212640}"/>
              </a:ext>
            </a:extLst>
          </p:cNvPr>
          <p:cNvPicPr>
            <a:picLocks noChangeAspect="1"/>
          </p:cNvPicPr>
          <p:nvPr/>
        </p:nvPicPr>
        <p:blipFill rotWithShape="1">
          <a:blip r:embed="rId2">
            <a:extLst>
              <a:ext uri="{28A0092B-C50C-407E-A947-70E740481C1C}">
                <a14:useLocalDpi xmlns:a14="http://schemas.microsoft.com/office/drawing/2010/main" val="0"/>
              </a:ext>
            </a:extLst>
          </a:blip>
          <a:srcRect t="8977" b="136"/>
          <a:stretch/>
        </p:blipFill>
        <p:spPr>
          <a:xfrm>
            <a:off x="4646383" y="10"/>
            <a:ext cx="7545616" cy="6857990"/>
          </a:xfrm>
          <a:prstGeom prst="rect">
            <a:avLst/>
          </a:prstGeom>
        </p:spPr>
      </p:pic>
      <p:sp>
        <p:nvSpPr>
          <p:cNvPr id="44" name="Rectangle 43">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62210" cy="6858000"/>
          </a:xfrm>
          <a:prstGeom prst="rect">
            <a:avLst/>
          </a:prstGeom>
          <a:solidFill>
            <a:schemeClr val="bg1">
              <a:lumMod val="75000"/>
              <a:lumOff val="25000"/>
            </a:schemeClr>
          </a:solidFill>
          <a:ln w="6350" cap="sq" cmpd="sng" algn="ctr">
            <a:noFill/>
            <a:prstDash val="solid"/>
            <a:miter lim="800000"/>
          </a:ln>
          <a:effectLst/>
        </p:spPr>
      </p:sp>
      <p:sp>
        <p:nvSpPr>
          <p:cNvPr id="46" name="Rectangle 45">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3977" y="164592"/>
            <a:ext cx="4334256" cy="6528816"/>
          </a:xfrm>
          <a:prstGeom prst="rect">
            <a:avLst/>
          </a:prstGeom>
          <a:noFill/>
          <a:ln w="6350" cap="sq" cmpd="sng" algn="ctr">
            <a:solidFill>
              <a:schemeClr val="tx1"/>
            </a:solidFill>
            <a:prstDash val="solid"/>
            <a:miter lim="800000"/>
          </a:ln>
          <a:effectLst>
            <a:softEdge rad="0"/>
          </a:effectLst>
        </p:spPr>
      </p:sp>
      <p:sp>
        <p:nvSpPr>
          <p:cNvPr id="2" name="Τίτλος 1">
            <a:extLst>
              <a:ext uri="{FF2B5EF4-FFF2-40B4-BE49-F238E27FC236}">
                <a16:creationId xmlns:a16="http://schemas.microsoft.com/office/drawing/2014/main" id="{20CF0AE8-3B7B-460C-AE66-EB10E5378A19}"/>
              </a:ext>
            </a:extLst>
          </p:cNvPr>
          <p:cNvSpPr>
            <a:spLocks noGrp="1"/>
          </p:cNvSpPr>
          <p:nvPr>
            <p:ph type="ctrTitle"/>
          </p:nvPr>
        </p:nvSpPr>
        <p:spPr>
          <a:xfrm>
            <a:off x="466524" y="1340361"/>
            <a:ext cx="3729162" cy="2171701"/>
          </a:xfrm>
        </p:spPr>
        <p:txBody>
          <a:bodyPr>
            <a:normAutofit/>
          </a:bodyPr>
          <a:lstStyle/>
          <a:p>
            <a:r>
              <a:rPr lang="el-GR" sz="3300" dirty="0">
                <a:solidFill>
                  <a:schemeClr val="tx1"/>
                </a:solidFill>
              </a:rPr>
              <a:t>ΕΝΣΩΜΑΤΩΜΕΝΑ ΣΥΣΤΗΜΑΤΑ</a:t>
            </a:r>
          </a:p>
        </p:txBody>
      </p:sp>
      <p:sp>
        <p:nvSpPr>
          <p:cNvPr id="3" name="Υπότιτλος 2">
            <a:extLst>
              <a:ext uri="{FF2B5EF4-FFF2-40B4-BE49-F238E27FC236}">
                <a16:creationId xmlns:a16="http://schemas.microsoft.com/office/drawing/2014/main" id="{A43DD028-7DD6-45A0-AEC1-FDBCF5CBBE06}"/>
              </a:ext>
            </a:extLst>
          </p:cNvPr>
          <p:cNvSpPr>
            <a:spLocks noGrp="1"/>
          </p:cNvSpPr>
          <p:nvPr>
            <p:ph type="subTitle" idx="1"/>
          </p:nvPr>
        </p:nvSpPr>
        <p:spPr>
          <a:xfrm>
            <a:off x="434284" y="3860800"/>
            <a:ext cx="3793642" cy="2171700"/>
          </a:xfrm>
        </p:spPr>
        <p:txBody>
          <a:bodyPr>
            <a:normAutofit fontScale="85000" lnSpcReduction="10000"/>
          </a:bodyPr>
          <a:lstStyle/>
          <a:p>
            <a:r>
              <a:rPr lang="el-GR" dirty="0">
                <a:solidFill>
                  <a:schemeClr val="tx1"/>
                </a:solidFill>
              </a:rPr>
              <a:t>Γιώργος Ντάκος 1059569</a:t>
            </a:r>
          </a:p>
          <a:p>
            <a:endParaRPr lang="el-GR" dirty="0">
              <a:solidFill>
                <a:schemeClr val="tx1"/>
              </a:solidFill>
            </a:endParaRPr>
          </a:p>
          <a:p>
            <a:r>
              <a:rPr lang="en-US" dirty="0">
                <a:solidFill>
                  <a:schemeClr val="tx1"/>
                </a:solidFill>
                <a:hlinkClick r:id="rId3"/>
              </a:rPr>
              <a:t>giorgos-1001@hotmail.com</a:t>
            </a:r>
            <a:endParaRPr lang="el-GR" dirty="0">
              <a:solidFill>
                <a:schemeClr val="tx1"/>
              </a:solidFill>
            </a:endParaRPr>
          </a:p>
          <a:p>
            <a:endParaRPr lang="en-US" dirty="0">
              <a:solidFill>
                <a:schemeClr val="tx1"/>
              </a:solidFill>
            </a:endParaRPr>
          </a:p>
          <a:p>
            <a:r>
              <a:rPr lang="el-GR" dirty="0">
                <a:solidFill>
                  <a:schemeClr val="tx1"/>
                </a:solidFill>
              </a:rPr>
              <a:t>Πανεπιστήμιο Πατρών</a:t>
            </a:r>
          </a:p>
          <a:p>
            <a:endParaRPr lang="el-GR" dirty="0">
              <a:solidFill>
                <a:schemeClr val="tx1"/>
              </a:solidFill>
            </a:endParaRPr>
          </a:p>
          <a:p>
            <a:r>
              <a:rPr lang="el-GR" dirty="0">
                <a:solidFill>
                  <a:schemeClr val="tx1"/>
                </a:solidFill>
              </a:rPr>
              <a:t>Τμήμα Μηχανικών Η/Υ &amp; Πληροφορικής</a:t>
            </a:r>
          </a:p>
          <a:p>
            <a:endParaRPr lang="el-GR" dirty="0">
              <a:solidFill>
                <a:schemeClr val="tx1"/>
              </a:solidFill>
            </a:endParaRPr>
          </a:p>
          <a:p>
            <a:r>
              <a:rPr lang="el-GR" dirty="0">
                <a:solidFill>
                  <a:schemeClr val="tx1"/>
                </a:solidFill>
              </a:rPr>
              <a:t>19/1/2021 </a:t>
            </a:r>
          </a:p>
        </p:txBody>
      </p:sp>
    </p:spTree>
    <p:extLst>
      <p:ext uri="{BB962C8B-B14F-4D97-AF65-F5344CB8AC3E}">
        <p14:creationId xmlns:p14="http://schemas.microsoft.com/office/powerpoint/2010/main" val="27794714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E9A330FD-24AA-48AF-B058-87F343D143CE}"/>
              </a:ext>
            </a:extLst>
          </p:cNvPr>
          <p:cNvSpPr>
            <a:spLocks noGrp="1"/>
          </p:cNvSpPr>
          <p:nvPr>
            <p:ph type="ctrTitle"/>
          </p:nvPr>
        </p:nvSpPr>
        <p:spPr>
          <a:xfrm>
            <a:off x="1626053" y="2451100"/>
            <a:ext cx="8933796" cy="977900"/>
          </a:xfrm>
        </p:spPr>
        <p:txBody>
          <a:bodyPr>
            <a:normAutofit fontScale="90000"/>
          </a:bodyPr>
          <a:lstStyle/>
          <a:p>
            <a:r>
              <a:rPr lang="el-GR" dirty="0" err="1"/>
              <a:t>ΠερΊληψη</a:t>
            </a:r>
            <a:br>
              <a:rPr lang="el-GR" dirty="0"/>
            </a:br>
            <a:endParaRPr lang="el-GR" dirty="0"/>
          </a:p>
        </p:txBody>
      </p:sp>
      <p:sp>
        <p:nvSpPr>
          <p:cNvPr id="3" name="Υπότιτλος 2">
            <a:extLst>
              <a:ext uri="{FF2B5EF4-FFF2-40B4-BE49-F238E27FC236}">
                <a16:creationId xmlns:a16="http://schemas.microsoft.com/office/drawing/2014/main" id="{8D19F527-564C-42B6-9CFA-EB54004EB647}"/>
              </a:ext>
            </a:extLst>
          </p:cNvPr>
          <p:cNvSpPr>
            <a:spLocks noGrp="1"/>
          </p:cNvSpPr>
          <p:nvPr>
            <p:ph type="subTitle" idx="1"/>
          </p:nvPr>
        </p:nvSpPr>
        <p:spPr>
          <a:xfrm>
            <a:off x="1629101" y="2895600"/>
            <a:ext cx="8936846" cy="2243663"/>
          </a:xfrm>
        </p:spPr>
        <p:txBody>
          <a:bodyPr>
            <a:normAutofit fontScale="85000" lnSpcReduction="10000"/>
          </a:bodyPr>
          <a:lstStyle/>
          <a:p>
            <a:r>
              <a:rPr lang="el-GR" dirty="0"/>
              <a:t>Στις μέρες μας όλο και πιο πολύ οι ψηφιακοί υπολογιστές έχουν καταλάβει μεγάλο μέρος της ζωής μας. Σε πολλές εφαρμογές το αντιλαμβάνεται και ένας απλός καθημερινός άνθρωπος που δεν έχει σχέση με τον τομέα των υπολογιστών(πχ. επιτραπέζιοι υπολογιστές, κινητά κτλ.).Βέβαια υπάρχει και μια αθέατη πλευρά των υπολογιστικών συστημάτων τα οποία ο άνθρωπος δεν αντιλαμβάνεται και δεν μπορεί να φανταστεί το που μπορούν εμπεριέχονται. Αυτή η κατηγορία είναι τα ενσωματωμένα συστήματα(ΕΣ) τα οποία έχουν μεγάλες και ζωτικής σημασίας διαφορές από έναν υπολογιστή γενικού σκοπού. Τέτοια συστήματα υπάρχουν στα αυτοκίνητα, οικιακές συσκευές, στρατιωτικές εφαρμογές, αερόηλεκτρονικά , κ.α. Εμείς σε αυτήν την εργασία θα ασχοληθούμε με την συσκευή </a:t>
            </a:r>
            <a:r>
              <a:rPr lang="en-US" dirty="0"/>
              <a:t>HUD</a:t>
            </a:r>
            <a:r>
              <a:rPr lang="el-GR" dirty="0"/>
              <a:t> </a:t>
            </a:r>
            <a:r>
              <a:rPr lang="en-US" dirty="0"/>
              <a:t>(Head-Up Display)</a:t>
            </a:r>
            <a:r>
              <a:rPr lang="el-GR" dirty="0"/>
              <a:t> οπού πρώτό-εμφανίστηκε σε μαχητικά αεροπλάνα αλλά τώρα διατίθεται και σε αυτοκίνητα . Πιο αναλυτικά για τις προδιαγραφές, την αρχιτεκτονική του υλικού και του λογισμικού θα μιλήσουμε στις επόμενες ενότητες που ακολουθούν.</a:t>
            </a:r>
          </a:p>
        </p:txBody>
      </p:sp>
    </p:spTree>
    <p:extLst>
      <p:ext uri="{BB962C8B-B14F-4D97-AF65-F5344CB8AC3E}">
        <p14:creationId xmlns:p14="http://schemas.microsoft.com/office/powerpoint/2010/main" val="267578856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Εικόνα 4" descr="Εικόνα που περιέχει αυτοκίνητο, υπαίθριος, καθρέφτης αυτοκινήτου, καθρέφτης&#10;&#10;Περιγραφή που δημιουργήθηκε αυτόματα">
            <a:extLst>
              <a:ext uri="{FF2B5EF4-FFF2-40B4-BE49-F238E27FC236}">
                <a16:creationId xmlns:a16="http://schemas.microsoft.com/office/drawing/2014/main" id="{389AEA5F-01C2-40B0-8D14-FCCA58FD3CFD}"/>
              </a:ext>
            </a:extLst>
          </p:cNvPr>
          <p:cNvPicPr>
            <a:picLocks noChangeAspect="1"/>
          </p:cNvPicPr>
          <p:nvPr/>
        </p:nvPicPr>
        <p:blipFill rotWithShape="1">
          <a:blip r:embed="rId2">
            <a:extLst>
              <a:ext uri="{28A0092B-C50C-407E-A947-70E740481C1C}">
                <a14:useLocalDpi xmlns:a14="http://schemas.microsoft.com/office/drawing/2010/main" val="0"/>
              </a:ext>
            </a:extLst>
          </a:blip>
          <a:srcRect t="16047" b="27703"/>
          <a:stretch/>
        </p:blipFill>
        <p:spPr>
          <a:xfrm>
            <a:off x="20" y="-22"/>
            <a:ext cx="12191980" cy="6858022"/>
          </a:xfrm>
          <a:prstGeom prst="rect">
            <a:avLst/>
          </a:prstGeom>
          <a:noFill/>
          <a:effectLst>
            <a:outerShdw blurRad="50800" dist="50800" dir="5400000" sx="1000" sy="1000" algn="ctr" rotWithShape="0">
              <a:srgbClr val="000000"/>
            </a:outerShdw>
          </a:effectLst>
        </p:spPr>
      </p:pic>
      <p:sp>
        <p:nvSpPr>
          <p:cNvPr id="63" name="Rectangle 62">
            <a:extLst>
              <a:ext uri="{FF2B5EF4-FFF2-40B4-BE49-F238E27FC236}">
                <a16:creationId xmlns:a16="http://schemas.microsoft.com/office/drawing/2014/main" id="{D5B012D8-7F27-4758-9AC6-C889B154B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103377" y="1100316"/>
            <a:ext cx="6858003" cy="4657347"/>
          </a:xfrm>
          <a:prstGeom prst="rect">
            <a:avLst/>
          </a:prstGeom>
          <a:gradFill flip="none" rotWithShape="1">
            <a:gsLst>
              <a:gs pos="48000">
                <a:schemeClr val="tx1">
                  <a:alpha val="24000"/>
                </a:schemeClr>
              </a:gs>
              <a:gs pos="85000">
                <a:schemeClr val="tx1">
                  <a:alpha val="45000"/>
                </a:schemeClr>
              </a:gs>
              <a:gs pos="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D3FE7939-1ECA-41B1-80E3-765E57D0C43A}"/>
              </a:ext>
            </a:extLst>
          </p:cNvPr>
          <p:cNvSpPr>
            <a:spLocks noGrp="1"/>
          </p:cNvSpPr>
          <p:nvPr>
            <p:ph type="ctrTitle"/>
          </p:nvPr>
        </p:nvSpPr>
        <p:spPr>
          <a:xfrm>
            <a:off x="643466" y="643467"/>
            <a:ext cx="5452529" cy="3569242"/>
          </a:xfrm>
        </p:spPr>
        <p:txBody>
          <a:bodyPr anchor="t">
            <a:normAutofit/>
          </a:bodyPr>
          <a:lstStyle/>
          <a:p>
            <a:pPr algn="l"/>
            <a:r>
              <a:rPr lang="el-GR" sz="6000">
                <a:solidFill>
                  <a:schemeClr val="bg1"/>
                </a:solidFill>
              </a:rPr>
              <a:t>Περιγραφή συσκευής </a:t>
            </a:r>
            <a:r>
              <a:rPr lang="en-US" sz="6000">
                <a:solidFill>
                  <a:schemeClr val="bg1"/>
                </a:solidFill>
              </a:rPr>
              <a:t>HUD</a:t>
            </a:r>
            <a:endParaRPr lang="el-GR" sz="6000">
              <a:solidFill>
                <a:schemeClr val="bg1"/>
              </a:solidFill>
            </a:endParaRPr>
          </a:p>
        </p:txBody>
      </p:sp>
      <p:sp>
        <p:nvSpPr>
          <p:cNvPr id="3" name="Υπότιτλος 2">
            <a:extLst>
              <a:ext uri="{FF2B5EF4-FFF2-40B4-BE49-F238E27FC236}">
                <a16:creationId xmlns:a16="http://schemas.microsoft.com/office/drawing/2014/main" id="{95B63522-4AE2-46CE-8739-8B43AF2A64F3}"/>
              </a:ext>
            </a:extLst>
          </p:cNvPr>
          <p:cNvSpPr>
            <a:spLocks noGrp="1"/>
          </p:cNvSpPr>
          <p:nvPr>
            <p:ph type="subTitle" idx="1"/>
          </p:nvPr>
        </p:nvSpPr>
        <p:spPr>
          <a:xfrm>
            <a:off x="5939406" y="478173"/>
            <a:ext cx="5445380" cy="6163276"/>
          </a:xfrm>
          <a:effectLst>
            <a:glow>
              <a:schemeClr val="accent1">
                <a:alpha val="45000"/>
              </a:schemeClr>
            </a:glow>
            <a:outerShdw blurRad="127000" dir="2340000" algn="ctr" rotWithShape="0">
              <a:srgbClr val="000000"/>
            </a:outerShdw>
            <a:reflection endPos="0" dir="5400000" sy="-100000" algn="bl" rotWithShape="0"/>
            <a:softEdge rad="0"/>
          </a:effectLst>
        </p:spPr>
        <p:txBody>
          <a:bodyPr anchor="b">
            <a:noAutofit/>
          </a:bodyPr>
          <a:lstStyle/>
          <a:p>
            <a:pPr algn="l">
              <a:lnSpc>
                <a:spcPct val="90000"/>
              </a:lnSpc>
              <a:spcAft>
                <a:spcPts val="600"/>
              </a:spcAft>
            </a:pPr>
            <a:r>
              <a:rPr lang="el-GR" b="1" dirty="0">
                <a:solidFill>
                  <a:schemeClr val="bg1"/>
                </a:solidFill>
              </a:rPr>
              <a:t>Η συγκεκριμένη συσκευή HUD (Βλέπε εικόνα) θα είναι ένα χρήσιμο εργαλείο για τον οδηγό του αυτοκινήτου αφού θα του δίνει σε πραγματικό χρόνο πληροφορίες για την θερμοκρασία και την πίεση των ελαστικών. Θα παρέχει επίσης αυτόματη προειδοποίηση και οθόνη για καλύτερη εξοικονόμηση καυσίμων, λιγότερη φθορά ελαστικών και αποφυγή τροχαίων ατυχημάτων αφού όλα τα δεδομένα θα αναπαρίστανται σε ένα διαφανές πλαίσιο οθόνης στο παρμπρίζ του αυτοκινήτου  οπού δεν θα αποσπά τον οδηγό από το περιβάλλον στο οποίο κινείται και θα έχει τον πλήρη έλεγχο του οχήματος από τα δεδομένα που θα του παρέχει η συσκευή .Επιπλέον θα τον ενημερώνει για την ταχύτητα του οχήματος ,την ταχύτητα του κινητήρα, θερμοκρασία νερού, τάση, στιγμιαία και μέση κατανάλωση καυσίμου, μέτρηση των διανοιχθέντων χιλιομέτρων, συναγερμό χαμηλής τάσης και σφάλματος κινητήρα και εύκολη εναλλαγή μεταξύ χιλιομέτρου και μιλίου. Τέλος θα μπορείτε να συνδέσετε το </a:t>
            </a:r>
            <a:r>
              <a:rPr lang="el-GR" b="1" dirty="0" err="1">
                <a:solidFill>
                  <a:schemeClr val="bg1"/>
                </a:solidFill>
              </a:rPr>
              <a:t>smartphone</a:t>
            </a:r>
            <a:r>
              <a:rPr lang="el-GR" b="1" dirty="0">
                <a:solidFill>
                  <a:schemeClr val="bg1"/>
                </a:solidFill>
              </a:rPr>
              <a:t> σας όπου θα σας παρέχει το σύστημα πλοήγησης για τον προορισμό σας το οποίο θα φαίνεται στην οθόνη έτσι θα μπορείτε να οδηγείτε με ακόμη περισσότερη ασφάλεια.</a:t>
            </a:r>
          </a:p>
        </p:txBody>
      </p:sp>
      <p:sp>
        <p:nvSpPr>
          <p:cNvPr id="65" name="Rectangle 64">
            <a:extLst>
              <a:ext uri="{FF2B5EF4-FFF2-40B4-BE49-F238E27FC236}">
                <a16:creationId xmlns:a16="http://schemas.microsoft.com/office/drawing/2014/main" id="{4063B759-00FC-46D1-9898-8E862526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731935" y="1397930"/>
            <a:ext cx="6858003" cy="4062128"/>
          </a:xfrm>
          <a:prstGeom prst="rect">
            <a:avLst/>
          </a:prstGeom>
          <a:gradFill flip="none" rotWithShape="1">
            <a:gsLst>
              <a:gs pos="48000">
                <a:schemeClr val="tx1">
                  <a:alpha val="24000"/>
                </a:schemeClr>
              </a:gs>
              <a:gs pos="85000">
                <a:schemeClr val="tx1">
                  <a:alpha val="45000"/>
                </a:schemeClr>
              </a:gs>
              <a:gs pos="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0910832"/>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4C0A515-5BEF-4ED1-93E7-CBCE36A33E39}"/>
              </a:ext>
            </a:extLst>
          </p:cNvPr>
          <p:cNvSpPr>
            <a:spLocks noGrp="1"/>
          </p:cNvSpPr>
          <p:nvPr>
            <p:ph type="ctrTitle"/>
          </p:nvPr>
        </p:nvSpPr>
        <p:spPr>
          <a:xfrm>
            <a:off x="1629103" y="2244830"/>
            <a:ext cx="8933796" cy="984931"/>
          </a:xfrm>
        </p:spPr>
        <p:txBody>
          <a:bodyPr/>
          <a:lstStyle/>
          <a:p>
            <a:r>
              <a:rPr lang="el-GR" dirty="0"/>
              <a:t>Ανάγκες του </a:t>
            </a:r>
            <a:r>
              <a:rPr lang="en-US" dirty="0"/>
              <a:t>HUD</a:t>
            </a:r>
            <a:endParaRPr lang="el-GR" dirty="0"/>
          </a:p>
        </p:txBody>
      </p:sp>
      <p:sp>
        <p:nvSpPr>
          <p:cNvPr id="3" name="Υπότιτλος 2">
            <a:extLst>
              <a:ext uri="{FF2B5EF4-FFF2-40B4-BE49-F238E27FC236}">
                <a16:creationId xmlns:a16="http://schemas.microsoft.com/office/drawing/2014/main" id="{1FD61640-59B2-49E5-AD1E-77392BD8F144}"/>
              </a:ext>
            </a:extLst>
          </p:cNvPr>
          <p:cNvSpPr>
            <a:spLocks noGrp="1"/>
          </p:cNvSpPr>
          <p:nvPr>
            <p:ph type="subTitle" idx="1"/>
          </p:nvPr>
        </p:nvSpPr>
        <p:spPr>
          <a:xfrm>
            <a:off x="1629101" y="3020037"/>
            <a:ext cx="8936846" cy="2119227"/>
          </a:xfrm>
        </p:spPr>
        <p:txBody>
          <a:bodyPr>
            <a:normAutofit/>
          </a:bodyPr>
          <a:lstStyle/>
          <a:p>
            <a:r>
              <a:rPr lang="el-GR" dirty="0"/>
              <a:t>• Λειτουργικότητα Συσκευής: Για χρήση σε αυτοκίνητο και σύνδεση σύστημα πλοήγησης από το κινητό. Δείχνει σημαντικά δεδομένα της μηχανής και των ελαστικών του αυτοκινήτου. Επιπλέον μέσω του κινητού εμφανίζει και την πορεία για τον προορισμό που έχετε επιλέξει.</a:t>
            </a:r>
          </a:p>
          <a:p>
            <a:r>
              <a:rPr lang="el-GR" dirty="0"/>
              <a:t>• Αλληλεπίδραση με χρήστη: Οθόνη τουλάχιστον 6 ιντσών. Επιπλέον ένα </a:t>
            </a:r>
            <a:r>
              <a:rPr lang="el-GR" dirty="0" err="1"/>
              <a:t>διάφονο</a:t>
            </a:r>
            <a:r>
              <a:rPr lang="el-GR" dirty="0"/>
              <a:t> πλαίσιο τουλάχιστον 6 ιντσών οπού θα αντανακλώνται τα δεδομένα της κύριας οθόνης. Το πολύ 3 Κουμπιά για εύκολη περιήγηση στο μενού και 1 κουμπί εκκίνησης.</a:t>
            </a:r>
          </a:p>
        </p:txBody>
      </p:sp>
    </p:spTree>
    <p:extLst>
      <p:ext uri="{BB962C8B-B14F-4D97-AF65-F5344CB8AC3E}">
        <p14:creationId xmlns:p14="http://schemas.microsoft.com/office/powerpoint/2010/main" val="2741770454"/>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59ED8EAC-6A31-4B2B-B786-4D2985218BC6}"/>
              </a:ext>
            </a:extLst>
          </p:cNvPr>
          <p:cNvSpPr>
            <a:spLocks noGrp="1"/>
          </p:cNvSpPr>
          <p:nvPr>
            <p:ph type="ctrTitle"/>
          </p:nvPr>
        </p:nvSpPr>
        <p:spPr>
          <a:xfrm>
            <a:off x="1629103" y="1895912"/>
            <a:ext cx="8933796" cy="1015068"/>
          </a:xfrm>
        </p:spPr>
        <p:txBody>
          <a:bodyPr>
            <a:normAutofit fontScale="90000"/>
          </a:bodyPr>
          <a:lstStyle/>
          <a:p>
            <a:r>
              <a:rPr lang="el-GR" dirty="0"/>
              <a:t>Ανάγκες του </a:t>
            </a:r>
            <a:r>
              <a:rPr lang="en-US" dirty="0"/>
              <a:t>HUD</a:t>
            </a:r>
            <a:r>
              <a:rPr lang="el-GR" dirty="0"/>
              <a:t>(2)</a:t>
            </a:r>
          </a:p>
        </p:txBody>
      </p:sp>
      <p:sp>
        <p:nvSpPr>
          <p:cNvPr id="3" name="Υπότιτλος 2">
            <a:extLst>
              <a:ext uri="{FF2B5EF4-FFF2-40B4-BE49-F238E27FC236}">
                <a16:creationId xmlns:a16="http://schemas.microsoft.com/office/drawing/2014/main" id="{8940FBCC-06D0-4140-9B1D-9C7BE4FEEFFF}"/>
              </a:ext>
            </a:extLst>
          </p:cNvPr>
          <p:cNvSpPr>
            <a:spLocks noGrp="1"/>
          </p:cNvSpPr>
          <p:nvPr>
            <p:ph type="subTitle" idx="1"/>
          </p:nvPr>
        </p:nvSpPr>
        <p:spPr>
          <a:xfrm>
            <a:off x="1629101" y="2793534"/>
            <a:ext cx="8936846" cy="2642532"/>
          </a:xfrm>
        </p:spPr>
        <p:txBody>
          <a:bodyPr/>
          <a:lstStyle/>
          <a:p>
            <a:r>
              <a:rPr lang="el-GR" dirty="0"/>
              <a:t>• Απόδοση: Τα δεδομένα του κινητήρα και των ελαστικών θα πρέπει να εμφανίζονται ομαλά. Η εκκίνηση της εφαρμογής να μην είναι περισσότερη από 5 δευτερόλεπτα. Οι ήχοι συναγερμού να είναι ικανοποιητικοί και όχι δυνατά απότομοι ώστε να τους αντιλαμβάνεται ο οδηγός άμεσα χωρίς να πανικοβληθεί. Τέλος σε περίπτωση αδράνειας του αυτοκινήτου άνω των 5 λεπτών το σύστημα μπαίνει σε λειτουργία αδράνειας. </a:t>
            </a:r>
          </a:p>
          <a:p>
            <a:endParaRPr lang="el-GR" dirty="0"/>
          </a:p>
          <a:p>
            <a:r>
              <a:rPr lang="el-GR" dirty="0"/>
              <a:t>• Κόστος: Η τιμή εμπορίου θα είναι περίπου στα 200 ευρώ δηλαδή περίπου 50-60 ευρώ για τα απαιτούμενα υλικά. </a:t>
            </a:r>
          </a:p>
        </p:txBody>
      </p:sp>
    </p:spTree>
    <p:extLst>
      <p:ext uri="{BB962C8B-B14F-4D97-AF65-F5344CB8AC3E}">
        <p14:creationId xmlns:p14="http://schemas.microsoft.com/office/powerpoint/2010/main" val="1385372613"/>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9">
            <a:extLst>
              <a:ext uri="{FF2B5EF4-FFF2-40B4-BE49-F238E27FC236}">
                <a16:creationId xmlns:a16="http://schemas.microsoft.com/office/drawing/2014/main" id="{9D879A56-BA4A-47BE-B8EA-643910D696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3190" y="457200"/>
            <a:ext cx="11281609" cy="5943603"/>
          </a:xfrm>
          <a:prstGeom prst="rect">
            <a:avLst/>
          </a:prstGeom>
          <a:solidFill>
            <a:srgbClr val="FFFFFF"/>
          </a:solidFill>
          <a:ln w="6350" cap="flat" cmpd="sng" algn="ctr">
            <a:noFill/>
            <a:prstDash val="solid"/>
          </a:ln>
          <a:effectLst>
            <a:outerShdw blurRad="50800" algn="ctr" rotWithShape="0">
              <a:prstClr val="black">
                <a:alpha val="66000"/>
              </a:prstClr>
            </a:outerShdw>
            <a:softEdge rad="0"/>
          </a:effectLst>
        </p:spPr>
      </p:sp>
      <p:sp useBgFill="1">
        <p:nvSpPr>
          <p:cNvPr id="12" name="Rectangle 11">
            <a:extLst>
              <a:ext uri="{FF2B5EF4-FFF2-40B4-BE49-F238E27FC236}">
                <a16:creationId xmlns:a16="http://schemas.microsoft.com/office/drawing/2014/main" id="{68E7D62B-6F82-4DD0-9764-C143AEAAC1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6738" y="621793"/>
            <a:ext cx="10954512" cy="5614416"/>
          </a:xfrm>
          <a:prstGeom prst="rect">
            <a:avLst/>
          </a:prstGeom>
          <a:ln w="6350" cap="sq" cmpd="sng" algn="ctr">
            <a:solidFill>
              <a:schemeClr val="tx1">
                <a:lumMod val="75000"/>
                <a:lumOff val="25000"/>
              </a:schemeClr>
            </a:solidFill>
            <a:prstDash val="solid"/>
            <a:miter lim="800000"/>
          </a:ln>
          <a:effectLst/>
        </p:spPr>
      </p:sp>
      <p:sp>
        <p:nvSpPr>
          <p:cNvPr id="2" name="Τίτλος 1">
            <a:extLst>
              <a:ext uri="{FF2B5EF4-FFF2-40B4-BE49-F238E27FC236}">
                <a16:creationId xmlns:a16="http://schemas.microsoft.com/office/drawing/2014/main" id="{AD3842E1-9B89-4820-A764-FB3E1086D5EB}"/>
              </a:ext>
            </a:extLst>
          </p:cNvPr>
          <p:cNvSpPr>
            <a:spLocks noGrp="1"/>
          </p:cNvSpPr>
          <p:nvPr>
            <p:ph type="ctrTitle"/>
          </p:nvPr>
        </p:nvSpPr>
        <p:spPr>
          <a:xfrm>
            <a:off x="5353249" y="1348844"/>
            <a:ext cx="5716338" cy="3042706"/>
          </a:xfrm>
        </p:spPr>
        <p:txBody>
          <a:bodyPr>
            <a:normAutofit/>
          </a:bodyPr>
          <a:lstStyle/>
          <a:p>
            <a:r>
              <a:rPr lang="el-GR" sz="6000" dirty="0"/>
              <a:t>Ανάγκες του </a:t>
            </a:r>
            <a:r>
              <a:rPr lang="en-US" sz="6000" dirty="0"/>
              <a:t>HUD</a:t>
            </a:r>
            <a:r>
              <a:rPr lang="el-GR" sz="6000" dirty="0"/>
              <a:t>(3)</a:t>
            </a:r>
          </a:p>
        </p:txBody>
      </p:sp>
      <p:sp>
        <p:nvSpPr>
          <p:cNvPr id="3" name="Υπότιτλος 2">
            <a:extLst>
              <a:ext uri="{FF2B5EF4-FFF2-40B4-BE49-F238E27FC236}">
                <a16:creationId xmlns:a16="http://schemas.microsoft.com/office/drawing/2014/main" id="{CADD4606-4419-46A2-A468-7AD5E188E422}"/>
              </a:ext>
            </a:extLst>
          </p:cNvPr>
          <p:cNvSpPr>
            <a:spLocks noGrp="1"/>
          </p:cNvSpPr>
          <p:nvPr>
            <p:ph type="subTitle" idx="1"/>
          </p:nvPr>
        </p:nvSpPr>
        <p:spPr>
          <a:xfrm>
            <a:off x="5533786" y="3740727"/>
            <a:ext cx="5355264" cy="1892311"/>
          </a:xfrm>
        </p:spPr>
        <p:txBody>
          <a:bodyPr>
            <a:normAutofit/>
          </a:bodyPr>
          <a:lstStyle/>
          <a:p>
            <a:pPr>
              <a:lnSpc>
                <a:spcPct val="90000"/>
              </a:lnSpc>
              <a:spcAft>
                <a:spcPts val="600"/>
              </a:spcAft>
            </a:pPr>
            <a:r>
              <a:rPr lang="el-GR" sz="1600" dirty="0"/>
              <a:t>• Φυσικό μέγεθος: Η συσκευή θα πρέπει να χωράει στο ταμπλό του αυτοκινήτου πάνω από τα όργανα. </a:t>
            </a:r>
          </a:p>
          <a:p>
            <a:pPr>
              <a:lnSpc>
                <a:spcPct val="90000"/>
              </a:lnSpc>
              <a:spcAft>
                <a:spcPts val="600"/>
              </a:spcAft>
            </a:pPr>
            <a:endParaRPr lang="el-GR" sz="1600" dirty="0"/>
          </a:p>
          <a:p>
            <a:pPr>
              <a:lnSpc>
                <a:spcPct val="90000"/>
              </a:lnSpc>
              <a:spcAft>
                <a:spcPts val="600"/>
              </a:spcAft>
            </a:pPr>
            <a:r>
              <a:rPr lang="el-GR" sz="1600" dirty="0"/>
              <a:t>• Κατανάλωση ενέργειας: Η τάση συσκευής θα κυμαίνεται περίπου στα 9-16V DC με ένταση 400mA </a:t>
            </a:r>
          </a:p>
        </p:txBody>
      </p:sp>
      <p:pic>
        <p:nvPicPr>
          <p:cNvPr id="5" name="Εικόνα 4" descr="Εικόνα που περιέχει κείμενο, ηλεκτρονικές συσκευές&#10;&#10;Περιγραφή που δημιουργήθηκε αυτόματα">
            <a:extLst>
              <a:ext uri="{FF2B5EF4-FFF2-40B4-BE49-F238E27FC236}">
                <a16:creationId xmlns:a16="http://schemas.microsoft.com/office/drawing/2014/main" id="{90BC8C4E-E97C-412F-9490-28138E464EEF}"/>
              </a:ext>
            </a:extLst>
          </p:cNvPr>
          <p:cNvPicPr>
            <a:picLocks noChangeAspect="1"/>
          </p:cNvPicPr>
          <p:nvPr/>
        </p:nvPicPr>
        <p:blipFill rotWithShape="1">
          <a:blip r:embed="rId2">
            <a:extLst>
              <a:ext uri="{28A0092B-C50C-407E-A947-70E740481C1C}">
                <a14:useLocalDpi xmlns:a14="http://schemas.microsoft.com/office/drawing/2010/main" val="0"/>
              </a:ext>
            </a:extLst>
          </a:blip>
          <a:srcRect l="5784" r="16265"/>
          <a:stretch/>
        </p:blipFill>
        <p:spPr>
          <a:xfrm>
            <a:off x="616737" y="621793"/>
            <a:ext cx="4376501" cy="5614416"/>
          </a:xfrm>
          <a:prstGeom prst="rect">
            <a:avLst/>
          </a:prstGeom>
        </p:spPr>
      </p:pic>
      <p:sp>
        <p:nvSpPr>
          <p:cNvPr id="14" name="Rectangle 13">
            <a:extLst>
              <a:ext uri="{FF2B5EF4-FFF2-40B4-BE49-F238E27FC236}">
                <a16:creationId xmlns:a16="http://schemas.microsoft.com/office/drawing/2014/main" id="{9C283B92-B6AF-4FE0-AF35-F51A679051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51298" y="446824"/>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6" name="Straight Connector 15">
            <a:extLst>
              <a:ext uri="{FF2B5EF4-FFF2-40B4-BE49-F238E27FC236}">
                <a16:creationId xmlns:a16="http://schemas.microsoft.com/office/drawing/2014/main" id="{9B60A8CB-176B-4FD6-AD24-9D98027E5C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365598" y="446823"/>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171CA5D-A004-471D-81F2-0B1381DE61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057238" y="446823"/>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682D131-57BB-442B-BD9B-8F06D2B230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365598" y="1092118"/>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1390285"/>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EB4BFD6-A85D-4A13-A54A-9A5C9E31C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5DD78E9-DE0D-47AF-A0DB-F475221E3D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108" y="610955"/>
            <a:ext cx="10927784" cy="5636090"/>
          </a:xfrm>
          <a:prstGeom prst="rect">
            <a:avLst/>
          </a:prstGeom>
          <a:solidFill>
            <a:srgbClr val="FFFFFF"/>
          </a:solidFill>
          <a:ln w="6350" cap="flat" cmpd="sng" algn="ctr">
            <a:noFill/>
            <a:prstDash val="solid"/>
          </a:ln>
          <a:effectLst>
            <a:outerShdw blurRad="50800" algn="ctr" rotWithShape="0">
              <a:prstClr val="black">
                <a:alpha val="66000"/>
              </a:prstClr>
            </a:outerShdw>
            <a:softEdge rad="0"/>
          </a:effectLst>
        </p:spPr>
      </p:sp>
      <p:sp useBgFill="1">
        <p:nvSpPr>
          <p:cNvPr id="12" name="Rectangle 11">
            <a:extLst>
              <a:ext uri="{FF2B5EF4-FFF2-40B4-BE49-F238E27FC236}">
                <a16:creationId xmlns:a16="http://schemas.microsoft.com/office/drawing/2014/main" id="{A118D329-2010-4A15-B57C-429FFAE35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052" y="777240"/>
            <a:ext cx="10597896" cy="5303520"/>
          </a:xfrm>
          <a:prstGeom prst="rect">
            <a:avLst/>
          </a:prstGeom>
          <a:ln w="6350" cap="sq" cmpd="sng" algn="ctr">
            <a:solidFill>
              <a:schemeClr val="tx1">
                <a:lumMod val="75000"/>
                <a:lumOff val="25000"/>
              </a:schemeClr>
            </a:solidFill>
            <a:prstDash val="solid"/>
            <a:miter lim="800000"/>
          </a:ln>
          <a:effectLst/>
        </p:spPr>
      </p:sp>
      <p:sp>
        <p:nvSpPr>
          <p:cNvPr id="2" name="Τίτλος 1">
            <a:extLst>
              <a:ext uri="{FF2B5EF4-FFF2-40B4-BE49-F238E27FC236}">
                <a16:creationId xmlns:a16="http://schemas.microsoft.com/office/drawing/2014/main" id="{B3E2B46E-86EC-4EB0-926B-49A5C542E27D}"/>
              </a:ext>
            </a:extLst>
          </p:cNvPr>
          <p:cNvSpPr>
            <a:spLocks noGrp="1"/>
          </p:cNvSpPr>
          <p:nvPr>
            <p:ph type="ctrTitle"/>
          </p:nvPr>
        </p:nvSpPr>
        <p:spPr>
          <a:xfrm>
            <a:off x="1838041" y="1272800"/>
            <a:ext cx="6191493" cy="4312402"/>
          </a:xfrm>
        </p:spPr>
        <p:txBody>
          <a:bodyPr anchor="ctr">
            <a:normAutofit/>
          </a:bodyPr>
          <a:lstStyle/>
          <a:p>
            <a:pPr algn="r"/>
            <a:r>
              <a:rPr lang="el-GR" dirty="0">
                <a:solidFill>
                  <a:schemeClr val="tx1"/>
                </a:solidFill>
              </a:rPr>
              <a:t>Φόρμα απαιτήσεων συσκευής </a:t>
            </a:r>
            <a:r>
              <a:rPr lang="en-US" dirty="0">
                <a:solidFill>
                  <a:schemeClr val="tx1"/>
                </a:solidFill>
              </a:rPr>
              <a:t>HUD</a:t>
            </a:r>
            <a:endParaRPr lang="el-GR" dirty="0">
              <a:solidFill>
                <a:schemeClr val="tx1"/>
              </a:solidFill>
            </a:endParaRPr>
          </a:p>
        </p:txBody>
      </p:sp>
      <p:sp>
        <p:nvSpPr>
          <p:cNvPr id="3" name="Υπότιτλος 2">
            <a:extLst>
              <a:ext uri="{FF2B5EF4-FFF2-40B4-BE49-F238E27FC236}">
                <a16:creationId xmlns:a16="http://schemas.microsoft.com/office/drawing/2014/main" id="{36216AC3-BBE0-424C-A2C9-824ED99D34A9}"/>
              </a:ext>
            </a:extLst>
          </p:cNvPr>
          <p:cNvSpPr>
            <a:spLocks noGrp="1"/>
          </p:cNvSpPr>
          <p:nvPr>
            <p:ph type="subTitle" idx="1"/>
          </p:nvPr>
        </p:nvSpPr>
        <p:spPr>
          <a:xfrm>
            <a:off x="8469747" y="777239"/>
            <a:ext cx="2485000" cy="5303519"/>
          </a:xfrm>
        </p:spPr>
        <p:txBody>
          <a:bodyPr anchor="ctr">
            <a:normAutofit fontScale="70000" lnSpcReduction="20000"/>
          </a:bodyPr>
          <a:lstStyle/>
          <a:p>
            <a:pPr algn="l"/>
            <a:r>
              <a:rPr lang="el-GR" sz="2000" dirty="0"/>
              <a:t>• ΄Όνομα : Συσκευή </a:t>
            </a:r>
            <a:r>
              <a:rPr lang="el-GR" sz="2000" dirty="0" err="1"/>
              <a:t>Head</a:t>
            </a:r>
            <a:r>
              <a:rPr lang="el-GR" sz="2000" dirty="0"/>
              <a:t>-UP </a:t>
            </a:r>
            <a:r>
              <a:rPr lang="el-GR" sz="2000" dirty="0" err="1"/>
              <a:t>Display</a:t>
            </a:r>
            <a:r>
              <a:rPr lang="el-GR" sz="2000" dirty="0"/>
              <a:t>(HUD) με </a:t>
            </a:r>
            <a:r>
              <a:rPr lang="el-GR" sz="2000" dirty="0" err="1"/>
              <a:t>bluetooth</a:t>
            </a:r>
            <a:r>
              <a:rPr lang="el-GR" sz="2000" dirty="0"/>
              <a:t>.</a:t>
            </a:r>
          </a:p>
          <a:p>
            <a:pPr algn="l"/>
            <a:endParaRPr lang="el-GR" sz="2000" dirty="0"/>
          </a:p>
          <a:p>
            <a:pPr algn="l"/>
            <a:r>
              <a:rPr lang="el-GR" sz="2000" dirty="0"/>
              <a:t> • Σκοπός: Σύστημα εμφάνισης δεδομένων του κινητήρα των ελαστικών και πορεία προορισμού για χρήση κατά την διάρκεια της οδήγησης. </a:t>
            </a:r>
          </a:p>
          <a:p>
            <a:pPr algn="l"/>
            <a:endParaRPr lang="el-GR" sz="2000" dirty="0"/>
          </a:p>
          <a:p>
            <a:pPr algn="l"/>
            <a:r>
              <a:rPr lang="el-GR" sz="2000" dirty="0"/>
              <a:t>• Είσοδοι : ΄Ένα πλήκτρο ενεργοποίησης, ένα πλήκτρο μενού/επιλογής, 2 πλήκτρα περιήγησης στο μενού,1 δέκτης </a:t>
            </a:r>
            <a:r>
              <a:rPr lang="el-GR" sz="2000" dirty="0" err="1"/>
              <a:t>bluetooth</a:t>
            </a:r>
            <a:r>
              <a:rPr lang="el-GR" sz="2000" dirty="0"/>
              <a:t> , μια θύρα </a:t>
            </a:r>
            <a:r>
              <a:rPr lang="el-GR" sz="2000" dirty="0" err="1"/>
              <a:t>usb</a:t>
            </a:r>
            <a:r>
              <a:rPr lang="el-GR" sz="2000" dirty="0"/>
              <a:t> για σύνδεση με τα ηλεκτρονικά του αυτοκινήτου και 4 δέκτες εξωτερικών αισθητήρων.</a:t>
            </a:r>
          </a:p>
          <a:p>
            <a:pPr algn="l"/>
            <a:endParaRPr lang="el-GR" sz="2000" dirty="0"/>
          </a:p>
          <a:p>
            <a:pPr algn="l"/>
            <a:r>
              <a:rPr lang="el-GR" sz="2000" dirty="0"/>
              <a:t> • Έξοδοι: Οθόνη τουλάχιστον 6 ιντσών και ανάλυσης 1080x1920 </a:t>
            </a:r>
            <a:r>
              <a:rPr lang="el-GR" sz="2000" dirty="0" err="1"/>
              <a:t>pixels</a:t>
            </a:r>
            <a:r>
              <a:rPr lang="el-GR" sz="2000" dirty="0"/>
              <a:t>. Επιπλέον έχει έναν πομπό </a:t>
            </a:r>
            <a:r>
              <a:rPr lang="el-GR" sz="2000" dirty="0" err="1"/>
              <a:t>bluetooth</a:t>
            </a:r>
            <a:r>
              <a:rPr lang="el-GR" sz="2000" dirty="0"/>
              <a:t>. </a:t>
            </a:r>
          </a:p>
        </p:txBody>
      </p:sp>
      <p:cxnSp>
        <p:nvCxnSpPr>
          <p:cNvPr id="14" name="Straight Connector 13">
            <a:extLst>
              <a:ext uri="{FF2B5EF4-FFF2-40B4-BE49-F238E27FC236}">
                <a16:creationId xmlns:a16="http://schemas.microsoft.com/office/drawing/2014/main" id="{994262BC-EE98-4BD6-82DB-4955E8DCC2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2" y="2057401"/>
            <a:ext cx="0" cy="274320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4832448"/>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EB4BFD6-A85D-4A13-A54A-9A5C9E31C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5DD78E9-DE0D-47AF-A0DB-F475221E3D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108" y="610955"/>
            <a:ext cx="10927784" cy="5636090"/>
          </a:xfrm>
          <a:prstGeom prst="rect">
            <a:avLst/>
          </a:prstGeom>
          <a:solidFill>
            <a:srgbClr val="FFFFFF"/>
          </a:solidFill>
          <a:ln w="6350" cap="flat" cmpd="sng" algn="ctr">
            <a:noFill/>
            <a:prstDash val="solid"/>
          </a:ln>
          <a:effectLst>
            <a:outerShdw blurRad="50800" algn="ctr" rotWithShape="0">
              <a:prstClr val="black">
                <a:alpha val="66000"/>
              </a:prstClr>
            </a:outerShdw>
            <a:softEdge rad="0"/>
          </a:effectLst>
        </p:spPr>
      </p:sp>
      <p:sp useBgFill="1">
        <p:nvSpPr>
          <p:cNvPr id="12" name="Rectangle 11">
            <a:extLst>
              <a:ext uri="{FF2B5EF4-FFF2-40B4-BE49-F238E27FC236}">
                <a16:creationId xmlns:a16="http://schemas.microsoft.com/office/drawing/2014/main" id="{A118D329-2010-4A15-B57C-429FFAE35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052" y="777240"/>
            <a:ext cx="10597896" cy="5303520"/>
          </a:xfrm>
          <a:prstGeom prst="rect">
            <a:avLst/>
          </a:prstGeom>
          <a:ln w="6350" cap="sq" cmpd="sng" algn="ctr">
            <a:solidFill>
              <a:schemeClr val="tx1">
                <a:lumMod val="75000"/>
                <a:lumOff val="25000"/>
              </a:schemeClr>
            </a:solidFill>
            <a:prstDash val="solid"/>
            <a:miter lim="800000"/>
          </a:ln>
          <a:effectLst/>
        </p:spPr>
      </p:sp>
      <p:sp>
        <p:nvSpPr>
          <p:cNvPr id="2" name="Τίτλος 1">
            <a:extLst>
              <a:ext uri="{FF2B5EF4-FFF2-40B4-BE49-F238E27FC236}">
                <a16:creationId xmlns:a16="http://schemas.microsoft.com/office/drawing/2014/main" id="{5EB737C4-24FA-40D6-90DC-C2106C8E9D16}"/>
              </a:ext>
            </a:extLst>
          </p:cNvPr>
          <p:cNvSpPr>
            <a:spLocks noGrp="1"/>
          </p:cNvSpPr>
          <p:nvPr>
            <p:ph type="ctrTitle"/>
          </p:nvPr>
        </p:nvSpPr>
        <p:spPr>
          <a:xfrm>
            <a:off x="1263520" y="1272800"/>
            <a:ext cx="6522785" cy="4312402"/>
          </a:xfrm>
        </p:spPr>
        <p:txBody>
          <a:bodyPr anchor="ctr">
            <a:normAutofit/>
          </a:bodyPr>
          <a:lstStyle/>
          <a:p>
            <a:pPr algn="r"/>
            <a:r>
              <a:rPr lang="el-GR" dirty="0"/>
              <a:t>Φόρμα απαιτήσεων συσκευής </a:t>
            </a:r>
            <a:r>
              <a:rPr lang="en-US" dirty="0"/>
              <a:t>HUD</a:t>
            </a:r>
            <a:r>
              <a:rPr lang="el-GR" dirty="0"/>
              <a:t>(2)</a:t>
            </a:r>
            <a:endParaRPr lang="el-GR" dirty="0">
              <a:solidFill>
                <a:schemeClr val="tx1"/>
              </a:solidFill>
            </a:endParaRPr>
          </a:p>
        </p:txBody>
      </p:sp>
      <p:sp>
        <p:nvSpPr>
          <p:cNvPr id="3" name="Υπότιτλος 2">
            <a:extLst>
              <a:ext uri="{FF2B5EF4-FFF2-40B4-BE49-F238E27FC236}">
                <a16:creationId xmlns:a16="http://schemas.microsoft.com/office/drawing/2014/main" id="{E1DF042C-D410-44CA-857D-6269D4317AD9}"/>
              </a:ext>
            </a:extLst>
          </p:cNvPr>
          <p:cNvSpPr>
            <a:spLocks noGrp="1"/>
          </p:cNvSpPr>
          <p:nvPr>
            <p:ph type="subTitle" idx="1"/>
          </p:nvPr>
        </p:nvSpPr>
        <p:spPr>
          <a:xfrm>
            <a:off x="8239639" y="889000"/>
            <a:ext cx="2633129" cy="5080000"/>
          </a:xfrm>
        </p:spPr>
        <p:txBody>
          <a:bodyPr anchor="ctr">
            <a:normAutofit fontScale="62500" lnSpcReduction="20000"/>
          </a:bodyPr>
          <a:lstStyle/>
          <a:p>
            <a:pPr algn="l"/>
            <a:r>
              <a:rPr lang="el-GR" sz="2000" dirty="0"/>
              <a:t>• Λειτουργίες: Χρησιμοποιεί το σύστημα εγκεφάλου του αυτοκινήτου για την παροχή δεδομένων για το αυτοκίνητο. Επιπλέον παρέχει δεδομένα και από τους 4 εξωτερικούς αισθητήρες για την κατάσταση των ελαστικών. Δείχνει πάντα την ταχύτητα του αυτοκινήτου και του κινητήρα, μέση και στιγμιαία τιμή κατανάλωσης, θερμοκρασία νερού, μέτρηση διανοιχθέντων χιλιομέτρων. Επιπλέον παρέχει σήματα βλάβης ή κινδύνου τα οποία εμφανίζονται μετά από βλάβη στον κινητήρα, στην υπερβολική αύξηση θερμοκρασίας κινητήρα, χαμηλή στάθμης καυσίμων και βλάβης στα φρένα ή σηκωμένου χειρόφρενου. Επιπλέον μετά από πολύωρη χρήση του αυτοκινήτου εμφανίζεται σήμα που ειδοποιεί τον οδηγό για υπερκόπωση ώστε να πραγματοποιήσει στάση. Τέλος ειδοποιεί τον οδηγό για την αλλαγή ταχύτητας για μεγαλύτερη εξοικονόμηση καυσίμου.</a:t>
            </a:r>
          </a:p>
        </p:txBody>
      </p:sp>
      <p:cxnSp>
        <p:nvCxnSpPr>
          <p:cNvPr id="14" name="Straight Connector 13">
            <a:extLst>
              <a:ext uri="{FF2B5EF4-FFF2-40B4-BE49-F238E27FC236}">
                <a16:creationId xmlns:a16="http://schemas.microsoft.com/office/drawing/2014/main" id="{994262BC-EE98-4BD6-82DB-4955E8DCC2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2" y="2057401"/>
            <a:ext cx="0" cy="274320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0778361"/>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EB4BFD6-A85D-4A13-A54A-9A5C9E31C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5DD78E9-DE0D-47AF-A0DB-F475221E3D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108" y="610955"/>
            <a:ext cx="10927784" cy="5636090"/>
          </a:xfrm>
          <a:prstGeom prst="rect">
            <a:avLst/>
          </a:prstGeom>
          <a:solidFill>
            <a:srgbClr val="FFFFFF"/>
          </a:solidFill>
          <a:ln w="6350" cap="flat" cmpd="sng" algn="ctr">
            <a:noFill/>
            <a:prstDash val="solid"/>
          </a:ln>
          <a:effectLst>
            <a:outerShdw blurRad="50800" algn="ctr" rotWithShape="0">
              <a:prstClr val="black">
                <a:alpha val="66000"/>
              </a:prstClr>
            </a:outerShdw>
            <a:softEdge rad="0"/>
          </a:effectLst>
        </p:spPr>
      </p:sp>
      <p:sp useBgFill="1">
        <p:nvSpPr>
          <p:cNvPr id="12" name="Rectangle 11">
            <a:extLst>
              <a:ext uri="{FF2B5EF4-FFF2-40B4-BE49-F238E27FC236}">
                <a16:creationId xmlns:a16="http://schemas.microsoft.com/office/drawing/2014/main" id="{A118D329-2010-4A15-B57C-429FFAE35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052" y="777240"/>
            <a:ext cx="10597896" cy="5303520"/>
          </a:xfrm>
          <a:prstGeom prst="rect">
            <a:avLst/>
          </a:prstGeom>
          <a:ln w="6350" cap="sq" cmpd="sng" algn="ctr">
            <a:solidFill>
              <a:schemeClr val="tx1">
                <a:lumMod val="75000"/>
                <a:lumOff val="25000"/>
              </a:schemeClr>
            </a:solidFill>
            <a:prstDash val="solid"/>
            <a:miter lim="800000"/>
          </a:ln>
          <a:effectLst/>
        </p:spPr>
      </p:sp>
      <p:sp>
        <p:nvSpPr>
          <p:cNvPr id="2" name="Τίτλος 1">
            <a:extLst>
              <a:ext uri="{FF2B5EF4-FFF2-40B4-BE49-F238E27FC236}">
                <a16:creationId xmlns:a16="http://schemas.microsoft.com/office/drawing/2014/main" id="{32C5E1AB-8078-4CE8-81BC-190859149FD8}"/>
              </a:ext>
            </a:extLst>
          </p:cNvPr>
          <p:cNvSpPr>
            <a:spLocks noGrp="1"/>
          </p:cNvSpPr>
          <p:nvPr>
            <p:ph type="ctrTitle"/>
          </p:nvPr>
        </p:nvSpPr>
        <p:spPr>
          <a:xfrm>
            <a:off x="1263520" y="1272800"/>
            <a:ext cx="6544620" cy="4312402"/>
          </a:xfrm>
        </p:spPr>
        <p:txBody>
          <a:bodyPr anchor="ctr">
            <a:normAutofit/>
          </a:bodyPr>
          <a:lstStyle/>
          <a:p>
            <a:pPr algn="r"/>
            <a:r>
              <a:rPr lang="el-GR" dirty="0"/>
              <a:t>Φόρμα απαιτήσεων συσκευής </a:t>
            </a:r>
            <a:r>
              <a:rPr lang="en-US" dirty="0"/>
              <a:t>HUD</a:t>
            </a:r>
            <a:r>
              <a:rPr lang="el-GR" dirty="0"/>
              <a:t>(3)</a:t>
            </a:r>
            <a:endParaRPr lang="el-GR" dirty="0">
              <a:solidFill>
                <a:schemeClr val="tx1"/>
              </a:solidFill>
            </a:endParaRPr>
          </a:p>
        </p:txBody>
      </p:sp>
      <p:sp>
        <p:nvSpPr>
          <p:cNvPr id="3" name="Υπότιτλος 2">
            <a:extLst>
              <a:ext uri="{FF2B5EF4-FFF2-40B4-BE49-F238E27FC236}">
                <a16:creationId xmlns:a16="http://schemas.microsoft.com/office/drawing/2014/main" id="{71744396-85F9-4E10-99F8-747CA891005D}"/>
              </a:ext>
            </a:extLst>
          </p:cNvPr>
          <p:cNvSpPr>
            <a:spLocks noGrp="1"/>
          </p:cNvSpPr>
          <p:nvPr>
            <p:ph type="subTitle" idx="1"/>
          </p:nvPr>
        </p:nvSpPr>
        <p:spPr>
          <a:xfrm>
            <a:off x="8473440" y="1272800"/>
            <a:ext cx="2481307" cy="4312402"/>
          </a:xfrm>
        </p:spPr>
        <p:txBody>
          <a:bodyPr anchor="ctr">
            <a:normAutofit fontScale="62500" lnSpcReduction="20000"/>
          </a:bodyPr>
          <a:lstStyle/>
          <a:p>
            <a:pPr algn="l"/>
            <a:r>
              <a:rPr lang="el-GR" sz="2000" dirty="0"/>
              <a:t>• Εναλλαγή </a:t>
            </a:r>
            <a:r>
              <a:rPr lang="el-GR" sz="2000" dirty="0" err="1"/>
              <a:t>Km</a:t>
            </a:r>
            <a:r>
              <a:rPr lang="el-GR" sz="2000" dirty="0"/>
              <a:t>/</a:t>
            </a:r>
            <a:r>
              <a:rPr lang="el-GR" sz="2000" dirty="0" err="1"/>
              <a:t>miles</a:t>
            </a:r>
            <a:r>
              <a:rPr lang="el-GR" sz="2000" dirty="0"/>
              <a:t>: Εύκολη εναλλαγή μεταξύ ένδειξης χιλιομέτρων και μιλίων ανάλογα με τις ανάγκες του οδηγού.</a:t>
            </a:r>
          </a:p>
          <a:p>
            <a:pPr algn="l"/>
            <a:endParaRPr lang="el-GR" sz="2000" dirty="0"/>
          </a:p>
          <a:p>
            <a:pPr algn="l"/>
            <a:r>
              <a:rPr lang="el-GR" sz="2000" dirty="0"/>
              <a:t>• Ρύθμιση φωτεινότητας: Η φωτεινότητα της οθόνης προσαρμόζεται αυτόματα η χειροκίνητα ανάλογα με τις απαιτήσεις του οδηγού.</a:t>
            </a:r>
          </a:p>
          <a:p>
            <a:pPr algn="l"/>
            <a:endParaRPr lang="el-GR" sz="2000" dirty="0"/>
          </a:p>
          <a:p>
            <a:pPr algn="l"/>
            <a:r>
              <a:rPr lang="el-GR" sz="2000" dirty="0"/>
              <a:t> • Λειτουργία συναγερμού: Το σύστημα ειδοποιεί τον οδηγό μέσω ηχητικού μηνύματος για υπερβολική ταχύτητα. Το επίπεδο του ήχου συναγερμού είναι τουλάχιστον 30dB. </a:t>
            </a:r>
          </a:p>
          <a:p>
            <a:pPr algn="l"/>
            <a:endParaRPr lang="el-GR" sz="2000" dirty="0"/>
          </a:p>
          <a:p>
            <a:pPr algn="l"/>
            <a:r>
              <a:rPr lang="el-GR" sz="2000" dirty="0"/>
              <a:t>• </a:t>
            </a:r>
            <a:r>
              <a:rPr lang="el-GR" sz="2000" dirty="0" err="1"/>
              <a:t>Bluetooth</a:t>
            </a:r>
            <a:r>
              <a:rPr lang="el-GR" sz="2000" dirty="0"/>
              <a:t> λειτουργία: Υποστηρίζει τη σύζευξη με </a:t>
            </a:r>
            <a:r>
              <a:rPr lang="en-US" sz="2000" dirty="0"/>
              <a:t>smartphone</a:t>
            </a:r>
            <a:r>
              <a:rPr lang="el-GR" sz="2000" dirty="0"/>
              <a:t> μέσω </a:t>
            </a:r>
            <a:r>
              <a:rPr lang="el-GR" sz="2000" dirty="0" err="1"/>
              <a:t>Bluetooth</a:t>
            </a:r>
            <a:r>
              <a:rPr lang="el-GR" sz="2000" dirty="0"/>
              <a:t> για την εμφάνιση πορείας προορισμού.</a:t>
            </a:r>
          </a:p>
          <a:p>
            <a:pPr algn="l"/>
            <a:endParaRPr lang="el-GR" sz="2000" dirty="0"/>
          </a:p>
          <a:p>
            <a:pPr algn="l"/>
            <a:endParaRPr lang="el-GR" sz="2000" dirty="0"/>
          </a:p>
        </p:txBody>
      </p:sp>
      <p:cxnSp>
        <p:nvCxnSpPr>
          <p:cNvPr id="14" name="Straight Connector 13">
            <a:extLst>
              <a:ext uri="{FF2B5EF4-FFF2-40B4-BE49-F238E27FC236}">
                <a16:creationId xmlns:a16="http://schemas.microsoft.com/office/drawing/2014/main" id="{994262BC-EE98-4BD6-82DB-4955E8DCC2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2" y="2057401"/>
            <a:ext cx="0" cy="274320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8293973"/>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tint val="95000"/>
              </a:schemeClr>
              <a:schemeClr val="bg1">
                <a:shade val="92000"/>
                <a:satMod val="115000"/>
              </a:schemeClr>
            </a:duotone>
          </a:blip>
          <a:tile tx="0" ty="0" sx="60000" sy="60000" flip="none" algn="tl"/>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6F8A2C-B8CF-4B20-9A73-2ADCF63027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Rectangle 9">
            <a:extLst>
              <a:ext uri="{FF2B5EF4-FFF2-40B4-BE49-F238E27FC236}">
                <a16:creationId xmlns:a16="http://schemas.microsoft.com/office/drawing/2014/main" id="{B5DD78E9-DE0D-47AF-A0DB-F475221E3D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108" y="610955"/>
            <a:ext cx="10927784" cy="5636090"/>
          </a:xfrm>
          <a:prstGeom prst="rect">
            <a:avLst/>
          </a:prstGeom>
          <a:solidFill>
            <a:srgbClr val="FFFFFF"/>
          </a:solidFill>
          <a:ln w="6350" cap="flat" cmpd="sng" algn="ctr">
            <a:noFill/>
            <a:prstDash val="solid"/>
          </a:ln>
          <a:effectLst>
            <a:outerShdw blurRad="50800" algn="ctr" rotWithShape="0">
              <a:prstClr val="black">
                <a:alpha val="66000"/>
              </a:prstClr>
            </a:outerShdw>
            <a:softEdge rad="0"/>
          </a:effectLst>
        </p:spPr>
      </p:sp>
      <p:sp useBgFill="1">
        <p:nvSpPr>
          <p:cNvPr id="12" name="Rectangle 11">
            <a:extLst>
              <a:ext uri="{FF2B5EF4-FFF2-40B4-BE49-F238E27FC236}">
                <a16:creationId xmlns:a16="http://schemas.microsoft.com/office/drawing/2014/main" id="{A118D329-2010-4A15-B57C-429FFAE35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052" y="777240"/>
            <a:ext cx="10597896" cy="5303520"/>
          </a:xfrm>
          <a:prstGeom prst="rect">
            <a:avLst/>
          </a:prstGeom>
          <a:ln w="6350" cap="sq" cmpd="sng" algn="ctr">
            <a:solidFill>
              <a:schemeClr val="tx1">
                <a:lumMod val="75000"/>
                <a:lumOff val="25000"/>
              </a:schemeClr>
            </a:solidFill>
            <a:prstDash val="solid"/>
            <a:miter lim="800000"/>
          </a:ln>
          <a:effectLst/>
        </p:spPr>
      </p:sp>
      <p:sp>
        <p:nvSpPr>
          <p:cNvPr id="2" name="Τίτλος 1">
            <a:extLst>
              <a:ext uri="{FF2B5EF4-FFF2-40B4-BE49-F238E27FC236}">
                <a16:creationId xmlns:a16="http://schemas.microsoft.com/office/drawing/2014/main" id="{3D4F4CED-4349-4E6F-B8E0-A344BCFA0908}"/>
              </a:ext>
            </a:extLst>
          </p:cNvPr>
          <p:cNvSpPr>
            <a:spLocks noGrp="1"/>
          </p:cNvSpPr>
          <p:nvPr>
            <p:ph type="ctrTitle"/>
          </p:nvPr>
        </p:nvSpPr>
        <p:spPr>
          <a:xfrm>
            <a:off x="2410700" y="1272799"/>
            <a:ext cx="5719172" cy="4312402"/>
          </a:xfrm>
        </p:spPr>
        <p:txBody>
          <a:bodyPr anchor="ctr">
            <a:normAutofit/>
          </a:bodyPr>
          <a:lstStyle/>
          <a:p>
            <a:pPr algn="r"/>
            <a:r>
              <a:rPr lang="el-GR" sz="6600" dirty="0"/>
              <a:t>Φόρμα απαιτήσεων συσκευής </a:t>
            </a:r>
            <a:r>
              <a:rPr lang="en-US" sz="6600" dirty="0"/>
              <a:t>HUD</a:t>
            </a:r>
            <a:r>
              <a:rPr lang="el-GR" sz="6600" dirty="0"/>
              <a:t>(4)</a:t>
            </a:r>
            <a:endParaRPr lang="el-GR" sz="6600" dirty="0">
              <a:solidFill>
                <a:schemeClr val="tx1"/>
              </a:solidFill>
            </a:endParaRPr>
          </a:p>
        </p:txBody>
      </p:sp>
      <p:sp>
        <p:nvSpPr>
          <p:cNvPr id="3" name="Υπότιτλος 2">
            <a:extLst>
              <a:ext uri="{FF2B5EF4-FFF2-40B4-BE49-F238E27FC236}">
                <a16:creationId xmlns:a16="http://schemas.microsoft.com/office/drawing/2014/main" id="{D0697BEB-2B60-41F4-B6F5-2C486FECA1CC}"/>
              </a:ext>
            </a:extLst>
          </p:cNvPr>
          <p:cNvSpPr>
            <a:spLocks noGrp="1"/>
          </p:cNvSpPr>
          <p:nvPr>
            <p:ph type="subTitle" idx="1"/>
          </p:nvPr>
        </p:nvSpPr>
        <p:spPr>
          <a:xfrm>
            <a:off x="8473440" y="1272800"/>
            <a:ext cx="2481307" cy="4312402"/>
          </a:xfrm>
        </p:spPr>
        <p:txBody>
          <a:bodyPr anchor="ctr">
            <a:normAutofit fontScale="92500" lnSpcReduction="20000"/>
          </a:bodyPr>
          <a:lstStyle/>
          <a:p>
            <a:pPr algn="l"/>
            <a:r>
              <a:rPr lang="el-GR" sz="2000" dirty="0"/>
              <a:t>• Απόδοση: Η Οθόνη θα ενημερώνεται κάθε 0,1s κατά την διάρκεια της κίνησης του οχήματος.</a:t>
            </a:r>
          </a:p>
          <a:p>
            <a:pPr algn="l"/>
            <a:endParaRPr lang="el-GR" sz="2000" dirty="0"/>
          </a:p>
          <a:p>
            <a:pPr algn="l"/>
            <a:r>
              <a:rPr lang="el-GR" sz="2000" dirty="0"/>
              <a:t> • Κόστος Κατασκευής: 60 ευρώ.</a:t>
            </a:r>
          </a:p>
          <a:p>
            <a:pPr algn="l"/>
            <a:endParaRPr lang="el-GR" sz="2000" dirty="0"/>
          </a:p>
          <a:p>
            <a:pPr algn="l"/>
            <a:r>
              <a:rPr lang="el-GR" sz="2000" dirty="0"/>
              <a:t> • Τάση: 12V DC. </a:t>
            </a:r>
          </a:p>
          <a:p>
            <a:pPr algn="l"/>
            <a:endParaRPr lang="el-GR" sz="2000" dirty="0"/>
          </a:p>
          <a:p>
            <a:pPr algn="l"/>
            <a:r>
              <a:rPr lang="el-GR" sz="2000" dirty="0"/>
              <a:t>• ΄Ένταση: 400mA . </a:t>
            </a:r>
          </a:p>
          <a:p>
            <a:pPr algn="l"/>
            <a:endParaRPr lang="el-GR" sz="2000" dirty="0"/>
          </a:p>
          <a:p>
            <a:pPr algn="l"/>
            <a:r>
              <a:rPr lang="el-GR" sz="2000" dirty="0"/>
              <a:t>• Βάρος: 150gr . </a:t>
            </a:r>
          </a:p>
          <a:p>
            <a:pPr algn="l"/>
            <a:endParaRPr lang="el-GR" sz="2000" dirty="0"/>
          </a:p>
          <a:p>
            <a:pPr algn="l"/>
            <a:r>
              <a:rPr lang="el-GR" sz="2000" dirty="0"/>
              <a:t>• Διαστάσεις: Μήκος(16.3)</a:t>
            </a:r>
            <a:r>
              <a:rPr lang="en-US" sz="2000" dirty="0"/>
              <a:t>x</a:t>
            </a:r>
            <a:r>
              <a:rPr lang="el-GR" sz="2000" dirty="0"/>
              <a:t>Πλάτος(9.2) </a:t>
            </a:r>
            <a:r>
              <a:rPr lang="en-US" sz="2000" dirty="0"/>
              <a:t>x </a:t>
            </a:r>
            <a:r>
              <a:rPr lang="el-GR" sz="2000" dirty="0"/>
              <a:t>Ύψος(1.3) </a:t>
            </a:r>
            <a:r>
              <a:rPr lang="el-GR" sz="2000" dirty="0" err="1"/>
              <a:t>cm</a:t>
            </a:r>
            <a:r>
              <a:rPr lang="el-GR" sz="2000" dirty="0"/>
              <a:t> .</a:t>
            </a:r>
          </a:p>
        </p:txBody>
      </p:sp>
      <p:cxnSp>
        <p:nvCxnSpPr>
          <p:cNvPr id="14" name="Straight Connector 13">
            <a:extLst>
              <a:ext uri="{FF2B5EF4-FFF2-40B4-BE49-F238E27FC236}">
                <a16:creationId xmlns:a16="http://schemas.microsoft.com/office/drawing/2014/main" id="{994262BC-EE98-4BD6-82DB-4955E8DCC2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2" y="2057401"/>
            <a:ext cx="0" cy="274320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8887448"/>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EA4E4267-CAF0-4C38-8DC6-CD3B1A9F04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AB2868F7-FE10-4289-A5BD-90763C7A2F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Εικόνα 4" descr="Εικόνα που περιέχει προστατευτικό ένδυμα&#10;&#10;Περιγραφή που δημιουργήθηκε αυτόματα">
            <a:extLst>
              <a:ext uri="{FF2B5EF4-FFF2-40B4-BE49-F238E27FC236}">
                <a16:creationId xmlns:a16="http://schemas.microsoft.com/office/drawing/2014/main" id="{6BCDCDAB-4F6B-4AF2-84E1-44C208D121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191" y="2476573"/>
            <a:ext cx="6557687" cy="1901728"/>
          </a:xfrm>
          <a:prstGeom prst="rect">
            <a:avLst/>
          </a:prstGeom>
        </p:spPr>
      </p:pic>
      <p:sp>
        <p:nvSpPr>
          <p:cNvPr id="75" name="Rectangle 74">
            <a:extLst>
              <a:ext uri="{FF2B5EF4-FFF2-40B4-BE49-F238E27FC236}">
                <a16:creationId xmlns:a16="http://schemas.microsoft.com/office/drawing/2014/main" id="{BD94142C-10EE-487C-A327-404FDF358F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1973" y="643465"/>
            <a:ext cx="4143830" cy="2785536"/>
          </a:xfrm>
          <a:prstGeom prst="rect">
            <a:avLst/>
          </a:prstGeom>
          <a:solidFill>
            <a:schemeClr val="tx1">
              <a:lumMod val="75000"/>
              <a:lumOff val="25000"/>
            </a:schemeClr>
          </a:solidFill>
          <a:ln w="6350" cap="flat" cmpd="sng" algn="ctr">
            <a:noFill/>
            <a:prstDash val="solid"/>
          </a:ln>
          <a:effectLst>
            <a:outerShdw blurRad="50800" algn="ctr" rotWithShape="0">
              <a:prstClr val="black">
                <a:alpha val="66000"/>
              </a:prstClr>
            </a:outerShdw>
            <a:softEdge rad="0"/>
          </a:effectLst>
        </p:spPr>
      </p:sp>
      <p:sp>
        <p:nvSpPr>
          <p:cNvPr id="77" name="Rectangle 76">
            <a:extLst>
              <a:ext uri="{FF2B5EF4-FFF2-40B4-BE49-F238E27FC236}">
                <a16:creationId xmlns:a16="http://schemas.microsoft.com/office/drawing/2014/main" id="{5F7FAC2D-7A74-4939-A917-A1A5AF935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7364" y="806365"/>
            <a:ext cx="3813048" cy="2459736"/>
          </a:xfrm>
          <a:prstGeom prst="rect">
            <a:avLst/>
          </a:prstGeom>
          <a:noFill/>
          <a:ln w="6350" cap="sq" cmpd="sng" algn="ctr">
            <a:solidFill>
              <a:schemeClr val="bg1"/>
            </a:solidFill>
            <a:prstDash val="solid"/>
            <a:miter lim="800000"/>
          </a:ln>
          <a:effectLst/>
        </p:spPr>
      </p:sp>
      <p:sp>
        <p:nvSpPr>
          <p:cNvPr id="2" name="Τίτλος 1">
            <a:extLst>
              <a:ext uri="{FF2B5EF4-FFF2-40B4-BE49-F238E27FC236}">
                <a16:creationId xmlns:a16="http://schemas.microsoft.com/office/drawing/2014/main" id="{60F313F0-A2B9-44C2-84A3-B7D605355C77}"/>
              </a:ext>
            </a:extLst>
          </p:cNvPr>
          <p:cNvSpPr>
            <a:spLocks noGrp="1"/>
          </p:cNvSpPr>
          <p:nvPr>
            <p:ph type="ctrTitle"/>
          </p:nvPr>
        </p:nvSpPr>
        <p:spPr>
          <a:xfrm>
            <a:off x="7844069" y="1111662"/>
            <a:ext cx="3299328" cy="1456386"/>
          </a:xfrm>
        </p:spPr>
        <p:txBody>
          <a:bodyPr>
            <a:normAutofit/>
          </a:bodyPr>
          <a:lstStyle/>
          <a:p>
            <a:r>
              <a:rPr lang="el-GR" sz="2700" dirty="0">
                <a:solidFill>
                  <a:schemeClr val="bg1"/>
                </a:solidFill>
              </a:rPr>
              <a:t>ανάγκες των αισθητήρων HUD</a:t>
            </a:r>
          </a:p>
        </p:txBody>
      </p:sp>
      <p:pic>
        <p:nvPicPr>
          <p:cNvPr id="6" name="Εικόνα 5">
            <a:extLst>
              <a:ext uri="{FF2B5EF4-FFF2-40B4-BE49-F238E27FC236}">
                <a16:creationId xmlns:a16="http://schemas.microsoft.com/office/drawing/2014/main" id="{58280291-42FC-4D81-8CD9-6FE05E5A572D}"/>
              </a:ext>
            </a:extLst>
          </p:cNvPr>
          <p:cNvPicPr>
            <a:picLocks noChangeAspect="1"/>
          </p:cNvPicPr>
          <p:nvPr/>
        </p:nvPicPr>
        <p:blipFill>
          <a:blip r:embed="rId3"/>
          <a:stretch>
            <a:fillRect/>
          </a:stretch>
        </p:blipFill>
        <p:spPr>
          <a:xfrm>
            <a:off x="7028873" y="4086857"/>
            <a:ext cx="4738273" cy="1964777"/>
          </a:xfrm>
          <a:prstGeom prst="rect">
            <a:avLst/>
          </a:prstGeom>
        </p:spPr>
      </p:pic>
    </p:spTree>
    <p:extLst>
      <p:ext uri="{BB962C8B-B14F-4D97-AF65-F5344CB8AC3E}">
        <p14:creationId xmlns:p14="http://schemas.microsoft.com/office/powerpoint/2010/main" val="4254793931"/>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A4E4267-CAF0-4C38-8DC6-CD3B1A9F04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EE3ACC5-126D-4BA4-8B45-7F0B5B839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84"/>
            <a:ext cx="12192000" cy="6858000"/>
          </a:xfrm>
          <a:prstGeom prst="rect">
            <a:avLst/>
          </a:prstGeom>
          <a:blipFill dpi="0" rotWithShape="1">
            <a:blip r:embed="rId2">
              <a:alphaModFix amt="40000"/>
              <a:duotone>
                <a:schemeClr val="accent1">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Rectangle 28">
            <a:extLst>
              <a:ext uri="{FF2B5EF4-FFF2-40B4-BE49-F238E27FC236}">
                <a16:creationId xmlns:a16="http://schemas.microsoft.com/office/drawing/2014/main" id="{AB2868F7-FE10-4289-A5BD-90763C7A2F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Εικόνα 5">
            <a:extLst>
              <a:ext uri="{FF2B5EF4-FFF2-40B4-BE49-F238E27FC236}">
                <a16:creationId xmlns:a16="http://schemas.microsoft.com/office/drawing/2014/main" id="{39661A39-5EB8-4FB4-B616-9ACA2858A033}"/>
              </a:ext>
            </a:extLst>
          </p:cNvPr>
          <p:cNvPicPr>
            <a:picLocks noChangeAspect="1"/>
          </p:cNvPicPr>
          <p:nvPr/>
        </p:nvPicPr>
        <p:blipFill rotWithShape="1">
          <a:blip r:embed="rId3">
            <a:extLst>
              <a:ext uri="{28A0092B-C50C-407E-A947-70E740481C1C}">
                <a14:useLocalDpi xmlns:a14="http://schemas.microsoft.com/office/drawing/2010/main" val="0"/>
              </a:ext>
            </a:extLst>
          </a:blip>
          <a:srcRect t="457" b="3799"/>
          <a:stretch/>
        </p:blipFill>
        <p:spPr>
          <a:xfrm>
            <a:off x="203054" y="806859"/>
            <a:ext cx="7188917" cy="5108165"/>
          </a:xfrm>
          <a:prstGeom prst="rect">
            <a:avLst/>
          </a:prstGeom>
        </p:spPr>
      </p:pic>
      <p:sp>
        <p:nvSpPr>
          <p:cNvPr id="31" name="Rectangle 30">
            <a:extLst>
              <a:ext uri="{FF2B5EF4-FFF2-40B4-BE49-F238E27FC236}">
                <a16:creationId xmlns:a16="http://schemas.microsoft.com/office/drawing/2014/main" id="{BD94142C-10EE-487C-A327-404FDF358F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1973" y="643464"/>
            <a:ext cx="4143830" cy="5566305"/>
          </a:xfrm>
          <a:prstGeom prst="rect">
            <a:avLst/>
          </a:prstGeom>
          <a:solidFill>
            <a:schemeClr val="tx1">
              <a:lumMod val="75000"/>
              <a:lumOff val="25000"/>
            </a:schemeClr>
          </a:solidFill>
          <a:ln w="6350" cap="flat" cmpd="sng" algn="ctr">
            <a:noFill/>
            <a:prstDash val="solid"/>
          </a:ln>
          <a:effectLst>
            <a:outerShdw blurRad="50800" algn="ctr" rotWithShape="0">
              <a:prstClr val="black">
                <a:alpha val="66000"/>
              </a:prstClr>
            </a:outerShdw>
            <a:softEdge rad="0"/>
          </a:effectLst>
        </p:spPr>
      </p:sp>
      <p:sp>
        <p:nvSpPr>
          <p:cNvPr id="33" name="Rectangle 32">
            <a:extLst>
              <a:ext uri="{FF2B5EF4-FFF2-40B4-BE49-F238E27FC236}">
                <a16:creationId xmlns:a16="http://schemas.microsoft.com/office/drawing/2014/main" id="{5F7FAC2D-7A74-4939-A917-A1A5AF935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7364" y="806860"/>
            <a:ext cx="3813048" cy="5239512"/>
          </a:xfrm>
          <a:prstGeom prst="rect">
            <a:avLst/>
          </a:prstGeom>
          <a:noFill/>
          <a:ln w="6350" cap="sq" cmpd="sng" algn="ctr">
            <a:solidFill>
              <a:schemeClr val="bg1"/>
            </a:solidFill>
            <a:prstDash val="solid"/>
            <a:miter lim="800000"/>
          </a:ln>
          <a:effectLst/>
        </p:spPr>
      </p:sp>
      <p:sp>
        <p:nvSpPr>
          <p:cNvPr id="2" name="Τίτλος 1">
            <a:extLst>
              <a:ext uri="{FF2B5EF4-FFF2-40B4-BE49-F238E27FC236}">
                <a16:creationId xmlns:a16="http://schemas.microsoft.com/office/drawing/2014/main" id="{88304733-DBDF-4B82-BD90-00DBE1203679}"/>
              </a:ext>
            </a:extLst>
          </p:cNvPr>
          <p:cNvSpPr>
            <a:spLocks noGrp="1"/>
          </p:cNvSpPr>
          <p:nvPr>
            <p:ph type="ctrTitle"/>
          </p:nvPr>
        </p:nvSpPr>
        <p:spPr>
          <a:xfrm>
            <a:off x="7957225" y="1559769"/>
            <a:ext cx="2978281" cy="611931"/>
          </a:xfrm>
        </p:spPr>
        <p:txBody>
          <a:bodyPr>
            <a:normAutofit fontScale="90000"/>
          </a:bodyPr>
          <a:lstStyle/>
          <a:p>
            <a:r>
              <a:rPr lang="el-GR" sz="2600" dirty="0">
                <a:solidFill>
                  <a:schemeClr val="bg1"/>
                </a:solidFill>
              </a:rPr>
              <a:t>Αρχιτεκτονική Λογισμικού</a:t>
            </a:r>
          </a:p>
        </p:txBody>
      </p:sp>
      <p:sp>
        <p:nvSpPr>
          <p:cNvPr id="3" name="Υπότιτλος 2">
            <a:extLst>
              <a:ext uri="{FF2B5EF4-FFF2-40B4-BE49-F238E27FC236}">
                <a16:creationId xmlns:a16="http://schemas.microsoft.com/office/drawing/2014/main" id="{4FA89E1F-41B2-4DD8-B133-B001C01B1FE8}"/>
              </a:ext>
            </a:extLst>
          </p:cNvPr>
          <p:cNvSpPr>
            <a:spLocks noGrp="1"/>
          </p:cNvSpPr>
          <p:nvPr>
            <p:ph type="subTitle" idx="1"/>
          </p:nvPr>
        </p:nvSpPr>
        <p:spPr>
          <a:xfrm>
            <a:off x="8039920" y="2171700"/>
            <a:ext cx="2978282" cy="3831245"/>
          </a:xfrm>
        </p:spPr>
        <p:txBody>
          <a:bodyPr>
            <a:noAutofit/>
          </a:bodyPr>
          <a:lstStyle/>
          <a:p>
            <a:pPr>
              <a:lnSpc>
                <a:spcPct val="90000"/>
              </a:lnSpc>
              <a:spcAft>
                <a:spcPts val="600"/>
              </a:spcAft>
            </a:pPr>
            <a:r>
              <a:rPr lang="el-GR" sz="1400" dirty="0">
                <a:solidFill>
                  <a:schemeClr val="bg1">
                    <a:lumMod val="95000"/>
                  </a:schemeClr>
                </a:solidFill>
              </a:rPr>
              <a:t>Το λογισμικό θα πρέπει να δέχεται τα δεδομένα που στέλνονται από τα ηλεκτρονικά του αυτοκινήτου και να τα στέλνει σε μια </a:t>
            </a:r>
            <a:r>
              <a:rPr lang="el-GR" sz="1400" dirty="0" err="1">
                <a:solidFill>
                  <a:schemeClr val="bg1">
                    <a:lumMod val="95000"/>
                  </a:schemeClr>
                </a:solidFill>
              </a:rPr>
              <a:t>διεπαφή</a:t>
            </a:r>
            <a:r>
              <a:rPr lang="el-GR" sz="1400" dirty="0">
                <a:solidFill>
                  <a:schemeClr val="bg1">
                    <a:lumMod val="95000"/>
                  </a:schemeClr>
                </a:solidFill>
              </a:rPr>
              <a:t> χρήστη όπου θα τα προσαρμόσει έτσι ώστε να είναι κατανοητά για τον οδηγό. Στην συνέχεια μέσω του λογισμικού ανανεώνουμε τις νέες συνθήκες που πήραμε από την </a:t>
            </a:r>
            <a:r>
              <a:rPr lang="el-GR" sz="1400" dirty="0" err="1">
                <a:solidFill>
                  <a:schemeClr val="bg1">
                    <a:lumMod val="95000"/>
                  </a:schemeClr>
                </a:solidFill>
              </a:rPr>
              <a:t>διεπαφή</a:t>
            </a:r>
            <a:r>
              <a:rPr lang="el-GR" sz="1400" dirty="0">
                <a:solidFill>
                  <a:schemeClr val="bg1">
                    <a:lumMod val="95000"/>
                  </a:schemeClr>
                </a:solidFill>
              </a:rPr>
              <a:t> και τις προσαρμόζουμε στην οθόνη του οδηγού όπως εμείς έχουμε προγραμματίσει και στο τέλος παίρνουμε την έξοδο(Βλέπε εικόνα).Επίσης χρησιμοποιούμε έναν </a:t>
            </a:r>
            <a:r>
              <a:rPr lang="el-GR" sz="1400" dirty="0" err="1">
                <a:solidFill>
                  <a:schemeClr val="bg1">
                    <a:lumMod val="95000"/>
                  </a:schemeClr>
                </a:solidFill>
              </a:rPr>
              <a:t>χρόνομετρητή</a:t>
            </a:r>
            <a:r>
              <a:rPr lang="el-GR" sz="1400" dirty="0">
                <a:solidFill>
                  <a:schemeClr val="bg1">
                    <a:lumMod val="95000"/>
                  </a:schemeClr>
                </a:solidFill>
              </a:rPr>
              <a:t> για τον χρόνο που θα πάρει η </a:t>
            </a:r>
            <a:r>
              <a:rPr lang="el-GR" sz="1400" dirty="0" err="1">
                <a:solidFill>
                  <a:schemeClr val="bg1">
                    <a:lumMod val="95000"/>
                  </a:schemeClr>
                </a:solidFill>
              </a:rPr>
              <a:t>διεπαφή</a:t>
            </a:r>
            <a:r>
              <a:rPr lang="el-GR" sz="1400" dirty="0">
                <a:solidFill>
                  <a:schemeClr val="bg1">
                    <a:lumMod val="95000"/>
                  </a:schemeClr>
                </a:solidFill>
              </a:rPr>
              <a:t> χρήστη και η σχεδίαση στην οθόνη για να δούμε την απόδοση και την απόκριση του λογισμικού μας. </a:t>
            </a:r>
            <a:endParaRPr lang="el-GR" sz="1400" dirty="0">
              <a:solidFill>
                <a:schemeClr val="bg1">
                  <a:lumMod val="95000"/>
                </a:schemeClr>
              </a:solidFill>
              <a:effectLst>
                <a:glow rad="177800">
                  <a:schemeClr val="accent1">
                    <a:alpha val="40000"/>
                  </a:schemeClr>
                </a:glow>
                <a:outerShdw dist="38100" dir="5400000" algn="ctr" rotWithShape="0">
                  <a:srgbClr val="000000"/>
                </a:outerShdw>
                <a:reflection endPos="0" dist="50800" dir="5400000" sy="-100000" algn="bl" rotWithShape="0"/>
              </a:effectLst>
            </a:endParaRPr>
          </a:p>
        </p:txBody>
      </p:sp>
      <p:sp>
        <p:nvSpPr>
          <p:cNvPr id="35" name="Rectangle 34">
            <a:extLst>
              <a:ext uri="{FF2B5EF4-FFF2-40B4-BE49-F238E27FC236}">
                <a16:creationId xmlns:a16="http://schemas.microsoft.com/office/drawing/2014/main" id="{BA53A868-C420-4BAE-9244-EC162AF05C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3768" y="640856"/>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37" name="Straight Connector 36">
            <a:extLst>
              <a:ext uri="{FF2B5EF4-FFF2-40B4-BE49-F238E27FC236}">
                <a16:creationId xmlns:a16="http://schemas.microsoft.com/office/drawing/2014/main" id="{F8D93CCA-A85E-4529-A6F0-8BB54D27BC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8068"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686EF3-81CC-419F-96C3-002A758803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309708"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ECFA516-C18C-41AE-AFF2-A0D0A59C9E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8068" y="1286150"/>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3004183"/>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9">
            <a:extLst>
              <a:ext uri="{FF2B5EF4-FFF2-40B4-BE49-F238E27FC236}">
                <a16:creationId xmlns:a16="http://schemas.microsoft.com/office/drawing/2014/main" id="{EA4E4267-CAF0-4C38-8DC6-CD3B1A9F04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a:p>
        </p:txBody>
      </p:sp>
      <p:sp>
        <p:nvSpPr>
          <p:cNvPr id="17" name="Rectangle 11">
            <a:extLst>
              <a:ext uri="{FF2B5EF4-FFF2-40B4-BE49-F238E27FC236}">
                <a16:creationId xmlns:a16="http://schemas.microsoft.com/office/drawing/2014/main" id="{0EE3ACC5-126D-4BA4-8B45-7F0B5B839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84"/>
            <a:ext cx="12192000" cy="6858000"/>
          </a:xfrm>
          <a:prstGeom prst="rect">
            <a:avLst/>
          </a:prstGeom>
          <a:blipFill dpi="0" rotWithShape="1">
            <a:blip r:embed="rId2">
              <a:alphaModFix amt="40000"/>
              <a:duotone>
                <a:schemeClr val="accent1">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AB2868F7-FE10-4289-A5BD-90763C7A2F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Εικόνα 4">
            <a:extLst>
              <a:ext uri="{FF2B5EF4-FFF2-40B4-BE49-F238E27FC236}">
                <a16:creationId xmlns:a16="http://schemas.microsoft.com/office/drawing/2014/main" id="{1A773A93-5B23-4D4F-9412-F79546CB0B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192" y="1117104"/>
            <a:ext cx="6202238" cy="4620666"/>
          </a:xfrm>
          <a:prstGeom prst="rect">
            <a:avLst/>
          </a:prstGeom>
        </p:spPr>
      </p:pic>
      <p:sp>
        <p:nvSpPr>
          <p:cNvPr id="16" name="Rectangle 15">
            <a:extLst>
              <a:ext uri="{FF2B5EF4-FFF2-40B4-BE49-F238E27FC236}">
                <a16:creationId xmlns:a16="http://schemas.microsoft.com/office/drawing/2014/main" id="{BD94142C-10EE-487C-A327-404FDF358F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1973" y="643464"/>
            <a:ext cx="4143830" cy="5566305"/>
          </a:xfrm>
          <a:prstGeom prst="rect">
            <a:avLst/>
          </a:prstGeom>
          <a:solidFill>
            <a:schemeClr val="tx1">
              <a:lumMod val="75000"/>
              <a:lumOff val="25000"/>
            </a:schemeClr>
          </a:solidFill>
          <a:ln w="6350" cap="flat" cmpd="sng" algn="ctr">
            <a:noFill/>
            <a:prstDash val="solid"/>
          </a:ln>
          <a:effectLst>
            <a:outerShdw blurRad="50800" algn="ctr" rotWithShape="0">
              <a:prstClr val="black">
                <a:alpha val="66000"/>
              </a:prstClr>
            </a:outerShdw>
            <a:softEdge rad="0"/>
          </a:effectLst>
        </p:spPr>
      </p:sp>
      <p:sp>
        <p:nvSpPr>
          <p:cNvPr id="18" name="Rectangle 17">
            <a:extLst>
              <a:ext uri="{FF2B5EF4-FFF2-40B4-BE49-F238E27FC236}">
                <a16:creationId xmlns:a16="http://schemas.microsoft.com/office/drawing/2014/main" id="{5F7FAC2D-7A74-4939-A917-A1A5AF935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7364" y="806860"/>
            <a:ext cx="3813048" cy="5239512"/>
          </a:xfrm>
          <a:prstGeom prst="rect">
            <a:avLst/>
          </a:prstGeom>
          <a:noFill/>
          <a:ln w="6350" cap="sq" cmpd="sng" algn="ctr">
            <a:solidFill>
              <a:schemeClr val="bg1"/>
            </a:solidFill>
            <a:prstDash val="solid"/>
            <a:miter lim="800000"/>
          </a:ln>
          <a:effectLst/>
        </p:spPr>
      </p:sp>
      <p:sp>
        <p:nvSpPr>
          <p:cNvPr id="2" name="Τίτλος 1">
            <a:extLst>
              <a:ext uri="{FF2B5EF4-FFF2-40B4-BE49-F238E27FC236}">
                <a16:creationId xmlns:a16="http://schemas.microsoft.com/office/drawing/2014/main" id="{1BF723C4-2CA1-4197-A160-79EF0A0A0D69}"/>
              </a:ext>
            </a:extLst>
          </p:cNvPr>
          <p:cNvSpPr>
            <a:spLocks noGrp="1"/>
          </p:cNvSpPr>
          <p:nvPr>
            <p:ph type="ctrTitle"/>
          </p:nvPr>
        </p:nvSpPr>
        <p:spPr>
          <a:xfrm>
            <a:off x="8076505" y="1372376"/>
            <a:ext cx="2524931" cy="568901"/>
          </a:xfrm>
        </p:spPr>
        <p:txBody>
          <a:bodyPr>
            <a:normAutofit fontScale="90000"/>
          </a:bodyPr>
          <a:lstStyle/>
          <a:p>
            <a:r>
              <a:rPr lang="el-GR" sz="2600" dirty="0">
                <a:solidFill>
                  <a:schemeClr val="bg1"/>
                </a:solidFill>
              </a:rPr>
              <a:t>Αρχιτεκτονική Υλικού</a:t>
            </a:r>
          </a:p>
        </p:txBody>
      </p:sp>
      <p:sp>
        <p:nvSpPr>
          <p:cNvPr id="3" name="Υπότιτλος 2">
            <a:extLst>
              <a:ext uri="{FF2B5EF4-FFF2-40B4-BE49-F238E27FC236}">
                <a16:creationId xmlns:a16="http://schemas.microsoft.com/office/drawing/2014/main" id="{29E5957B-1AE0-48D1-B8F6-E2B5C2BA7BC5}"/>
              </a:ext>
            </a:extLst>
          </p:cNvPr>
          <p:cNvSpPr>
            <a:spLocks noGrp="1"/>
          </p:cNvSpPr>
          <p:nvPr>
            <p:ph type="subTitle" idx="1"/>
          </p:nvPr>
        </p:nvSpPr>
        <p:spPr>
          <a:xfrm>
            <a:off x="7557364" y="1846450"/>
            <a:ext cx="3928872" cy="4199921"/>
          </a:xfrm>
        </p:spPr>
        <p:txBody>
          <a:bodyPr>
            <a:noAutofit/>
          </a:bodyPr>
          <a:lstStyle/>
          <a:p>
            <a:r>
              <a:rPr lang="el-GR" sz="1200" dirty="0">
                <a:solidFill>
                  <a:schemeClr val="bg1">
                    <a:lumMod val="95000"/>
                  </a:schemeClr>
                </a:solidFill>
              </a:rPr>
              <a:t>Το υλικό θα πρέπει να κρατάει τα προσωρινά δεδομένα έτσι ώστε να μπορέσει να ενημερώσει την οθόνη για τον λόγο αυτό θα χρειαστούμε σίγουρα μνήμη προσωρινής αποθήκευσης αλλά και μνήμη οπού θα είναι αποθηκευμένο το λογισμικό μας και άλλα δεδομένα που είναι απαραίτητα τα οποία προφανώς δεν θέλουμε να χαθούν μετά από την απενεργοποίηση της συσκευής. Επιπλέον θα έχουμε δέκτες για τους εξωτερικούς αισθητήρες αλλά και δέκτη/πομπό </a:t>
            </a:r>
            <a:r>
              <a:rPr lang="el-GR" sz="1200" dirty="0" err="1">
                <a:solidFill>
                  <a:schemeClr val="bg1">
                    <a:lumMod val="95000"/>
                  </a:schemeClr>
                </a:solidFill>
              </a:rPr>
              <a:t>bluetooth</a:t>
            </a:r>
            <a:r>
              <a:rPr lang="el-GR" sz="1200" dirty="0">
                <a:solidFill>
                  <a:schemeClr val="bg1">
                    <a:lumMod val="95000"/>
                  </a:schemeClr>
                </a:solidFill>
              </a:rPr>
              <a:t> για την παραλαβή δεδομένων μέσω του </a:t>
            </a:r>
            <a:r>
              <a:rPr lang="el-GR" sz="1200" dirty="0" err="1">
                <a:solidFill>
                  <a:schemeClr val="bg1">
                    <a:lumMod val="95000"/>
                  </a:schemeClr>
                </a:solidFill>
              </a:rPr>
              <a:t>smartphone</a:t>
            </a:r>
            <a:r>
              <a:rPr lang="el-GR" sz="1200" dirty="0">
                <a:solidFill>
                  <a:schemeClr val="bg1">
                    <a:lumMod val="95000"/>
                  </a:schemeClr>
                </a:solidFill>
              </a:rPr>
              <a:t> .Επίσης τα δεδομένα που λαμβάνει η συσκευή μας θα πρέπει να επεξεργάζονται και να στέλνονται στης αντίστοιχες μνήμες γι’ αυτό και θα χρειαστούμε μια μονάδα κεντρικής επεξεργασίας όπου στην ουσία είναι η καρδιά του συστήματός μας(Βλέπε εικόνα 6).Στην συνέχεια θα χρειαστούμε εισόδους και εξόδους για καλύτερη διαχείριση της συσκευής και παροχής ρεύματος και άλλων λειτουργιών. Τέλος θα χρειαστούμε έναν ενισχυτή σημάτων ο οποίος θα μου ενισχύει τα εξασθενημένα σήματα. ΄Όλα αυτά θα συνδέονται μέσω ενός διαύλου</a:t>
            </a:r>
            <a:r>
              <a:rPr lang="el-GR" sz="1200" dirty="0"/>
              <a:t>. </a:t>
            </a:r>
            <a:endParaRPr lang="el-GR" sz="1200" dirty="0">
              <a:solidFill>
                <a:schemeClr val="bg1"/>
              </a:solidFill>
            </a:endParaRPr>
          </a:p>
        </p:txBody>
      </p:sp>
      <p:sp>
        <p:nvSpPr>
          <p:cNvPr id="20" name="Rectangle 19">
            <a:extLst>
              <a:ext uri="{FF2B5EF4-FFF2-40B4-BE49-F238E27FC236}">
                <a16:creationId xmlns:a16="http://schemas.microsoft.com/office/drawing/2014/main" id="{BA53A868-C420-4BAE-9244-EC162AF05C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3768" y="640856"/>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22" name="Straight Connector 21">
            <a:extLst>
              <a:ext uri="{FF2B5EF4-FFF2-40B4-BE49-F238E27FC236}">
                <a16:creationId xmlns:a16="http://schemas.microsoft.com/office/drawing/2014/main" id="{F8D93CCA-A85E-4529-A6F0-8BB54D27BC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8068"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2686EF3-81CC-419F-96C3-002A758803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309708"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ECFA516-C18C-41AE-AFF2-A0D0A59C9E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8068" y="1286150"/>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1484894"/>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891C27D-8C9D-415C-A639-23D76B7B1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8F4C0D6-B7E0-42D0-A57F-6781017A21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5B4D6D08-A7F1-4445-BA2E-E449562C04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7" y="0"/>
            <a:ext cx="8168743" cy="6858000"/>
          </a:xfrm>
          <a:prstGeom prst="rect">
            <a:avLst/>
          </a:prstGeom>
          <a:solidFill>
            <a:schemeClr val="tx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A7C1A41-D915-4D26-8D5E-C01B27160A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37" y="643464"/>
            <a:ext cx="6909241" cy="5571072"/>
          </a:xfrm>
          <a:prstGeom prst="rect">
            <a:avLst/>
          </a:prstGeom>
          <a:solidFill>
            <a:srgbClr val="FFFFFF"/>
          </a:solidFill>
          <a:ln w="6350" cap="flat" cmpd="sng" algn="ctr">
            <a:noFill/>
            <a:prstDash val="solid"/>
          </a:ln>
          <a:effectLst>
            <a:outerShdw blurRad="50800" algn="ctr" rotWithShape="0">
              <a:prstClr val="black">
                <a:alpha val="66000"/>
              </a:prstClr>
            </a:outerShdw>
            <a:softEdge rad="0"/>
          </a:effectLst>
        </p:spPr>
      </p:sp>
      <p:sp>
        <p:nvSpPr>
          <p:cNvPr id="17" name="Rectangle 16">
            <a:extLst>
              <a:ext uri="{FF2B5EF4-FFF2-40B4-BE49-F238E27FC236}">
                <a16:creationId xmlns:a16="http://schemas.microsoft.com/office/drawing/2014/main" id="{A50B663E-F671-4504-99A8-455955469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227" y="805446"/>
            <a:ext cx="6570161" cy="5244497"/>
          </a:xfrm>
          <a:prstGeom prst="rect">
            <a:avLst/>
          </a:prstGeom>
          <a:noFill/>
          <a:ln w="6350" cap="sq" cmpd="sng" algn="ctr">
            <a:solidFill>
              <a:srgbClr val="404040"/>
            </a:solidFill>
            <a:prstDash val="solid"/>
            <a:miter lim="800000"/>
          </a:ln>
          <a:effectLst/>
        </p:spPr>
      </p:sp>
      <p:sp>
        <p:nvSpPr>
          <p:cNvPr id="19" name="Rectangle 18">
            <a:extLst>
              <a:ext uri="{FF2B5EF4-FFF2-40B4-BE49-F238E27FC236}">
                <a16:creationId xmlns:a16="http://schemas.microsoft.com/office/drawing/2014/main" id="{2EF89585-ECD6-4B38-96B1-AD41A1BD4B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37837" y="640856"/>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21" name="Straight Connector 20">
            <a:extLst>
              <a:ext uri="{FF2B5EF4-FFF2-40B4-BE49-F238E27FC236}">
                <a16:creationId xmlns:a16="http://schemas.microsoft.com/office/drawing/2014/main" id="{1B6FCD50-3FE8-4AB2-B746-2CC0EA9D40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52137"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3E90108-E441-4AF0-A059-613D076C7CD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43777"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B422045-789A-442D-9E39-6FC4EC452C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52137" y="1286150"/>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pic>
        <p:nvPicPr>
          <p:cNvPr id="4" name="Εικόνα 3">
            <a:extLst>
              <a:ext uri="{FF2B5EF4-FFF2-40B4-BE49-F238E27FC236}">
                <a16:creationId xmlns:a16="http://schemas.microsoft.com/office/drawing/2014/main" id="{53A7914E-4E09-4973-A0A7-3EE9CED462D4}"/>
              </a:ext>
            </a:extLst>
          </p:cNvPr>
          <p:cNvPicPr>
            <a:picLocks noChangeAspect="1"/>
          </p:cNvPicPr>
          <p:nvPr/>
        </p:nvPicPr>
        <p:blipFill>
          <a:blip r:embed="rId2"/>
          <a:stretch>
            <a:fillRect/>
          </a:stretch>
        </p:blipFill>
        <p:spPr>
          <a:xfrm>
            <a:off x="1295859" y="1956454"/>
            <a:ext cx="5600897" cy="3348362"/>
          </a:xfrm>
          <a:prstGeom prst="rect">
            <a:avLst/>
          </a:prstGeom>
        </p:spPr>
      </p:pic>
      <p:sp>
        <p:nvSpPr>
          <p:cNvPr id="27" name="Rectangle 26">
            <a:extLst>
              <a:ext uri="{FF2B5EF4-FFF2-40B4-BE49-F238E27FC236}">
                <a16:creationId xmlns:a16="http://schemas.microsoft.com/office/drawing/2014/main" id="{3F4C63FE-9526-4F8E-BCFD-954D2EF947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31468" y="164592"/>
            <a:ext cx="3708894" cy="6540176"/>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872D065F-A7C0-4291-9D4E-E0833AA6492E}"/>
              </a:ext>
            </a:extLst>
          </p:cNvPr>
          <p:cNvSpPr>
            <a:spLocks noGrp="1"/>
          </p:cNvSpPr>
          <p:nvPr>
            <p:ph type="ctrTitle"/>
          </p:nvPr>
        </p:nvSpPr>
        <p:spPr>
          <a:xfrm>
            <a:off x="8560024" y="1182454"/>
            <a:ext cx="3238829" cy="3480794"/>
          </a:xfrm>
        </p:spPr>
        <p:txBody>
          <a:bodyPr>
            <a:normAutofit/>
          </a:bodyPr>
          <a:lstStyle/>
          <a:p>
            <a:r>
              <a:rPr lang="el-GR" sz="3400" dirty="0"/>
              <a:t>Στοιχεία Επεξεργαστή</a:t>
            </a:r>
          </a:p>
        </p:txBody>
      </p:sp>
    </p:spTree>
    <p:extLst>
      <p:ext uri="{BB962C8B-B14F-4D97-AF65-F5344CB8AC3E}">
        <p14:creationId xmlns:p14="http://schemas.microsoft.com/office/powerpoint/2010/main" val="20590199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18D8845F-30A4-4D73-83CB-ABA691F5A9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1DAC2350-FA6C-4B24-9A17-926C160E8C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3190" y="457200"/>
            <a:ext cx="11281609" cy="5943603"/>
          </a:xfrm>
          <a:prstGeom prst="rect">
            <a:avLst/>
          </a:prstGeom>
          <a:solidFill>
            <a:srgbClr val="FFFFFF"/>
          </a:solidFill>
          <a:ln w="6350" cap="flat" cmpd="sng" algn="ctr">
            <a:noFill/>
            <a:prstDash val="solid"/>
          </a:ln>
          <a:effectLst>
            <a:outerShdw blurRad="50800" algn="ctr" rotWithShape="0">
              <a:prstClr val="black">
                <a:alpha val="66000"/>
              </a:prstClr>
            </a:outerShdw>
            <a:softEdge rad="0"/>
          </a:effectLst>
        </p:spPr>
      </p:sp>
      <p:sp>
        <p:nvSpPr>
          <p:cNvPr id="48" name="Rectangle 47">
            <a:extLst>
              <a:ext uri="{FF2B5EF4-FFF2-40B4-BE49-F238E27FC236}">
                <a16:creationId xmlns:a16="http://schemas.microsoft.com/office/drawing/2014/main" id="{2A637C44-0146-4C54-A1A1-57BC8E6C3C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6738" y="621793"/>
            <a:ext cx="10954512" cy="5614416"/>
          </a:xfrm>
          <a:prstGeom prst="rect">
            <a:avLst/>
          </a:prstGeom>
          <a:solidFill>
            <a:schemeClr val="bg1">
              <a:lumMod val="75000"/>
              <a:lumOff val="25000"/>
            </a:schemeClr>
          </a:solidFill>
          <a:ln w="6350" cap="sq" cmpd="sng" algn="ctr">
            <a:solidFill>
              <a:schemeClr val="tx1">
                <a:lumMod val="75000"/>
                <a:lumOff val="25000"/>
              </a:schemeClr>
            </a:solidFill>
            <a:prstDash val="solid"/>
            <a:miter lim="800000"/>
          </a:ln>
          <a:effectLst/>
        </p:spPr>
      </p:sp>
      <p:sp>
        <p:nvSpPr>
          <p:cNvPr id="2" name="Τίτλος 1">
            <a:extLst>
              <a:ext uri="{FF2B5EF4-FFF2-40B4-BE49-F238E27FC236}">
                <a16:creationId xmlns:a16="http://schemas.microsoft.com/office/drawing/2014/main" id="{5B990FA7-28AA-4E56-A891-1B3CA795379D}"/>
              </a:ext>
            </a:extLst>
          </p:cNvPr>
          <p:cNvSpPr>
            <a:spLocks noGrp="1"/>
          </p:cNvSpPr>
          <p:nvPr>
            <p:ph type="ctrTitle"/>
          </p:nvPr>
        </p:nvSpPr>
        <p:spPr>
          <a:xfrm>
            <a:off x="938317" y="1557228"/>
            <a:ext cx="9732773" cy="1465112"/>
          </a:xfrm>
        </p:spPr>
        <p:txBody>
          <a:bodyPr>
            <a:normAutofit/>
          </a:bodyPr>
          <a:lstStyle/>
          <a:p>
            <a:r>
              <a:rPr lang="el-GR" sz="5000" dirty="0"/>
              <a:t>Στοιχεία </a:t>
            </a:r>
            <a:r>
              <a:rPr lang="el-GR" sz="5000" dirty="0" err="1"/>
              <a:t>ΜνΉμης</a:t>
            </a:r>
            <a:r>
              <a:rPr lang="el-GR" sz="5000" dirty="0"/>
              <a:t> </a:t>
            </a:r>
            <a:r>
              <a:rPr lang="en-US" sz="5000" dirty="0"/>
              <a:t>SRAM</a:t>
            </a:r>
            <a:r>
              <a:rPr lang="el-GR" sz="5000" dirty="0"/>
              <a:t> &amp; </a:t>
            </a:r>
            <a:r>
              <a:rPr lang="en-US" sz="5000" dirty="0"/>
              <a:t>FLASH</a:t>
            </a:r>
            <a:endParaRPr lang="el-GR" sz="5000" dirty="0"/>
          </a:p>
        </p:txBody>
      </p:sp>
      <p:sp>
        <p:nvSpPr>
          <p:cNvPr id="50" name="Rectangle 49">
            <a:extLst>
              <a:ext uri="{FF2B5EF4-FFF2-40B4-BE49-F238E27FC236}">
                <a16:creationId xmlns:a16="http://schemas.microsoft.com/office/drawing/2014/main" id="{6AB310E7-DE5C-4964-8CBB-E87A22B5BD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446824"/>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52" name="Straight Connector 51">
            <a:extLst>
              <a:ext uri="{FF2B5EF4-FFF2-40B4-BE49-F238E27FC236}">
                <a16:creationId xmlns:a16="http://schemas.microsoft.com/office/drawing/2014/main" id="{BC6D0BA2-2FCA-496D-A55A-C56A7B3E09D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446823"/>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EA158404-99A1-4EB0-B63C-8744C273AC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941820" y="446823"/>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1848EA8-FE52-4762-AE9B-5D1DD4C3362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1092118"/>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pic>
        <p:nvPicPr>
          <p:cNvPr id="5" name="Εικόνα 4">
            <a:extLst>
              <a:ext uri="{FF2B5EF4-FFF2-40B4-BE49-F238E27FC236}">
                <a16:creationId xmlns:a16="http://schemas.microsoft.com/office/drawing/2014/main" id="{C43B1F18-EF33-42AE-97BF-16017B49960A}"/>
              </a:ext>
            </a:extLst>
          </p:cNvPr>
          <p:cNvPicPr>
            <a:picLocks noChangeAspect="1"/>
          </p:cNvPicPr>
          <p:nvPr/>
        </p:nvPicPr>
        <p:blipFill>
          <a:blip r:embed="rId2"/>
          <a:stretch>
            <a:fillRect/>
          </a:stretch>
        </p:blipFill>
        <p:spPr>
          <a:xfrm>
            <a:off x="1048180" y="3527525"/>
            <a:ext cx="7483730" cy="1272069"/>
          </a:xfrm>
          <a:prstGeom prst="rect">
            <a:avLst/>
          </a:prstGeom>
        </p:spPr>
      </p:pic>
      <p:pic>
        <p:nvPicPr>
          <p:cNvPr id="4" name="Εικόνα 3">
            <a:extLst>
              <a:ext uri="{FF2B5EF4-FFF2-40B4-BE49-F238E27FC236}">
                <a16:creationId xmlns:a16="http://schemas.microsoft.com/office/drawing/2014/main" id="{4CB05E31-7EF8-4C73-8F7C-14A17571EB25}"/>
              </a:ext>
            </a:extLst>
          </p:cNvPr>
          <p:cNvPicPr>
            <a:picLocks noChangeAspect="1"/>
          </p:cNvPicPr>
          <p:nvPr/>
        </p:nvPicPr>
        <p:blipFill>
          <a:blip r:embed="rId3"/>
          <a:stretch>
            <a:fillRect/>
          </a:stretch>
        </p:blipFill>
        <p:spPr>
          <a:xfrm>
            <a:off x="5665013" y="4979794"/>
            <a:ext cx="5570570" cy="1378432"/>
          </a:xfrm>
          <a:prstGeom prst="rect">
            <a:avLst/>
          </a:prstGeom>
        </p:spPr>
      </p:pic>
    </p:spTree>
    <p:extLst>
      <p:ext uri="{BB962C8B-B14F-4D97-AF65-F5344CB8AC3E}">
        <p14:creationId xmlns:p14="http://schemas.microsoft.com/office/powerpoint/2010/main" val="560924390"/>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EA4E4267-CAF0-4C38-8DC6-CD3B1A9F04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0EE3ACC5-126D-4BA4-8B45-7F0B5B839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84"/>
            <a:ext cx="12192000" cy="6858000"/>
          </a:xfrm>
          <a:prstGeom prst="rect">
            <a:avLst/>
          </a:prstGeom>
          <a:blipFill dpi="0" rotWithShape="1">
            <a:blip r:embed="rId2">
              <a:alphaModFix amt="40000"/>
              <a:duotone>
                <a:schemeClr val="accent1">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46" name="Rectangle 45">
            <a:extLst>
              <a:ext uri="{FF2B5EF4-FFF2-40B4-BE49-F238E27FC236}">
                <a16:creationId xmlns:a16="http://schemas.microsoft.com/office/drawing/2014/main" id="{AB2868F7-FE10-4289-A5BD-90763C7A2F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3866" cy="6858000"/>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BD94142C-10EE-487C-A327-404FDF358F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6197" y="643464"/>
            <a:ext cx="4143830" cy="5566305"/>
          </a:xfrm>
          <a:prstGeom prst="rect">
            <a:avLst/>
          </a:prstGeom>
          <a:solidFill>
            <a:schemeClr val="tx1">
              <a:lumMod val="75000"/>
              <a:lumOff val="25000"/>
            </a:schemeClr>
          </a:solidFill>
          <a:ln w="6350" cap="flat" cmpd="sng" algn="ctr">
            <a:noFill/>
            <a:prstDash val="solid"/>
          </a:ln>
          <a:effectLst>
            <a:outerShdw blurRad="50800" algn="ctr" rotWithShape="0">
              <a:prstClr val="black">
                <a:alpha val="66000"/>
              </a:prstClr>
            </a:outerShdw>
            <a:softEdge rad="0"/>
          </a:effectLst>
        </p:spPr>
      </p:sp>
      <p:sp>
        <p:nvSpPr>
          <p:cNvPr id="50" name="Rectangle 49">
            <a:extLst>
              <a:ext uri="{FF2B5EF4-FFF2-40B4-BE49-F238E27FC236}">
                <a16:creationId xmlns:a16="http://schemas.microsoft.com/office/drawing/2014/main" id="{5F7FAC2D-7A74-4939-A917-A1A5AF935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1587" y="806860"/>
            <a:ext cx="3813048" cy="5239512"/>
          </a:xfrm>
          <a:prstGeom prst="rect">
            <a:avLst/>
          </a:prstGeom>
          <a:noFill/>
          <a:ln w="6350" cap="sq" cmpd="sng" algn="ctr">
            <a:solidFill>
              <a:schemeClr val="bg1"/>
            </a:solidFill>
            <a:prstDash val="solid"/>
            <a:miter lim="800000"/>
          </a:ln>
          <a:effectLst/>
        </p:spPr>
      </p:sp>
      <p:sp>
        <p:nvSpPr>
          <p:cNvPr id="2" name="Τίτλος 1">
            <a:extLst>
              <a:ext uri="{FF2B5EF4-FFF2-40B4-BE49-F238E27FC236}">
                <a16:creationId xmlns:a16="http://schemas.microsoft.com/office/drawing/2014/main" id="{07C9F1DA-B096-414C-AF11-A6B3530F6117}"/>
              </a:ext>
            </a:extLst>
          </p:cNvPr>
          <p:cNvSpPr>
            <a:spLocks noGrp="1"/>
          </p:cNvSpPr>
          <p:nvPr>
            <p:ph type="ctrTitle"/>
          </p:nvPr>
        </p:nvSpPr>
        <p:spPr>
          <a:xfrm>
            <a:off x="1256493" y="1559768"/>
            <a:ext cx="2978281" cy="3135379"/>
          </a:xfrm>
        </p:spPr>
        <p:txBody>
          <a:bodyPr>
            <a:normAutofit/>
          </a:bodyPr>
          <a:lstStyle/>
          <a:p>
            <a:r>
              <a:rPr lang="el-GR" sz="3000">
                <a:solidFill>
                  <a:schemeClr val="bg1"/>
                </a:solidFill>
              </a:rPr>
              <a:t>Σχεδιασμός συνολικού Συστήματος</a:t>
            </a:r>
          </a:p>
        </p:txBody>
      </p:sp>
      <p:sp>
        <p:nvSpPr>
          <p:cNvPr id="52" name="Rectangle 51">
            <a:extLst>
              <a:ext uri="{FF2B5EF4-FFF2-40B4-BE49-F238E27FC236}">
                <a16:creationId xmlns:a16="http://schemas.microsoft.com/office/drawing/2014/main" id="{BA53A868-C420-4BAE-9244-EC162AF05C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7992" y="640856"/>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54" name="Straight Connector 53">
            <a:extLst>
              <a:ext uri="{FF2B5EF4-FFF2-40B4-BE49-F238E27FC236}">
                <a16:creationId xmlns:a16="http://schemas.microsoft.com/office/drawing/2014/main" id="{C2686EF3-81CC-419F-96C3-002A758803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82292"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63" name="Straight Connector 55">
            <a:extLst>
              <a:ext uri="{FF2B5EF4-FFF2-40B4-BE49-F238E27FC236}">
                <a16:creationId xmlns:a16="http://schemas.microsoft.com/office/drawing/2014/main" id="{F8D93CCA-A85E-4529-A6F0-8BB54D27BC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73932"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64" name="Straight Connector 57">
            <a:extLst>
              <a:ext uri="{FF2B5EF4-FFF2-40B4-BE49-F238E27FC236}">
                <a16:creationId xmlns:a16="http://schemas.microsoft.com/office/drawing/2014/main" id="{1ECFA516-C18C-41AE-AFF2-A0D0A59C9E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82292" y="1286150"/>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pic>
        <p:nvPicPr>
          <p:cNvPr id="5" name="Εικόνα 4">
            <a:extLst>
              <a:ext uri="{FF2B5EF4-FFF2-40B4-BE49-F238E27FC236}">
                <a16:creationId xmlns:a16="http://schemas.microsoft.com/office/drawing/2014/main" id="{A5ECE029-9CA8-480C-8446-2B888019A0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4442" y="645106"/>
            <a:ext cx="4646493" cy="5564663"/>
          </a:xfrm>
          <a:prstGeom prst="rect">
            <a:avLst/>
          </a:prstGeom>
        </p:spPr>
      </p:pic>
    </p:spTree>
    <p:extLst>
      <p:ext uri="{BB962C8B-B14F-4D97-AF65-F5344CB8AC3E}">
        <p14:creationId xmlns:p14="http://schemas.microsoft.com/office/powerpoint/2010/main" val="25368138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A4E4267-CAF0-4C38-8DC6-CD3B1A9F04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E3ACC5-126D-4BA4-8B45-7F0B5B839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84"/>
            <a:ext cx="12192000" cy="6858000"/>
          </a:xfrm>
          <a:prstGeom prst="rect">
            <a:avLst/>
          </a:prstGeom>
          <a:blipFill dpi="0" rotWithShape="1">
            <a:blip r:embed="rId2">
              <a:alphaModFix amt="40000"/>
              <a:duotone>
                <a:schemeClr val="accent1">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AB2868F7-FE10-4289-A5BD-90763C7A2F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3866" cy="6858000"/>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D94142C-10EE-487C-A327-404FDF358F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6197" y="643464"/>
            <a:ext cx="4143830" cy="5566305"/>
          </a:xfrm>
          <a:prstGeom prst="rect">
            <a:avLst/>
          </a:prstGeom>
          <a:solidFill>
            <a:schemeClr val="tx1">
              <a:lumMod val="75000"/>
              <a:lumOff val="25000"/>
            </a:schemeClr>
          </a:solidFill>
          <a:ln w="6350" cap="flat" cmpd="sng" algn="ctr">
            <a:noFill/>
            <a:prstDash val="solid"/>
          </a:ln>
          <a:effectLst>
            <a:outerShdw blurRad="50800" algn="ctr" rotWithShape="0">
              <a:prstClr val="black">
                <a:alpha val="66000"/>
              </a:prstClr>
            </a:outerShdw>
            <a:softEdge rad="0"/>
          </a:effectLst>
        </p:spPr>
      </p:sp>
      <p:sp>
        <p:nvSpPr>
          <p:cNvPr id="18" name="Rectangle 17">
            <a:extLst>
              <a:ext uri="{FF2B5EF4-FFF2-40B4-BE49-F238E27FC236}">
                <a16:creationId xmlns:a16="http://schemas.microsoft.com/office/drawing/2014/main" id="{5F7FAC2D-7A74-4939-A917-A1A5AF935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1587" y="806860"/>
            <a:ext cx="3813048" cy="5239512"/>
          </a:xfrm>
          <a:prstGeom prst="rect">
            <a:avLst/>
          </a:prstGeom>
          <a:noFill/>
          <a:ln w="6350" cap="sq" cmpd="sng" algn="ctr">
            <a:solidFill>
              <a:schemeClr val="bg1"/>
            </a:solidFill>
            <a:prstDash val="solid"/>
            <a:miter lim="800000"/>
          </a:ln>
          <a:effectLst/>
        </p:spPr>
      </p:sp>
      <p:sp>
        <p:nvSpPr>
          <p:cNvPr id="2" name="Τίτλος 1">
            <a:extLst>
              <a:ext uri="{FF2B5EF4-FFF2-40B4-BE49-F238E27FC236}">
                <a16:creationId xmlns:a16="http://schemas.microsoft.com/office/drawing/2014/main" id="{9BB1F122-E7A2-4B47-95CA-C6C960FB2343}"/>
              </a:ext>
            </a:extLst>
          </p:cNvPr>
          <p:cNvSpPr>
            <a:spLocks noGrp="1"/>
          </p:cNvSpPr>
          <p:nvPr>
            <p:ph type="ctrTitle"/>
          </p:nvPr>
        </p:nvSpPr>
        <p:spPr>
          <a:xfrm>
            <a:off x="1256493" y="1531193"/>
            <a:ext cx="2978281" cy="3135379"/>
          </a:xfrm>
        </p:spPr>
        <p:txBody>
          <a:bodyPr>
            <a:normAutofit/>
          </a:bodyPr>
          <a:lstStyle/>
          <a:p>
            <a:r>
              <a:rPr lang="el-GR" sz="2600" dirty="0">
                <a:solidFill>
                  <a:schemeClr val="bg1"/>
                </a:solidFill>
              </a:rPr>
              <a:t>Υλοποίηση υποσυστήματος Αισθητήρων</a:t>
            </a:r>
          </a:p>
        </p:txBody>
      </p:sp>
      <p:sp>
        <p:nvSpPr>
          <p:cNvPr id="20" name="Rectangle 19">
            <a:extLst>
              <a:ext uri="{FF2B5EF4-FFF2-40B4-BE49-F238E27FC236}">
                <a16:creationId xmlns:a16="http://schemas.microsoft.com/office/drawing/2014/main" id="{BA53A868-C420-4BAE-9244-EC162AF05C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7992" y="640856"/>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22" name="Straight Connector 21">
            <a:extLst>
              <a:ext uri="{FF2B5EF4-FFF2-40B4-BE49-F238E27FC236}">
                <a16:creationId xmlns:a16="http://schemas.microsoft.com/office/drawing/2014/main" id="{C2686EF3-81CC-419F-96C3-002A758803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82292"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D93CCA-A85E-4529-A6F0-8BB54D27BC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73932"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ECFA516-C18C-41AE-AFF2-A0D0A59C9E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82292" y="1286150"/>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pic>
        <p:nvPicPr>
          <p:cNvPr id="5" name="Εικόνα 4">
            <a:extLst>
              <a:ext uri="{FF2B5EF4-FFF2-40B4-BE49-F238E27FC236}">
                <a16:creationId xmlns:a16="http://schemas.microsoft.com/office/drawing/2014/main" id="{C5165B13-F01A-4513-A68D-0518AE72FE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46570" y="783734"/>
            <a:ext cx="6202238" cy="5287407"/>
          </a:xfrm>
          <a:prstGeom prst="rect">
            <a:avLst/>
          </a:prstGeom>
        </p:spPr>
      </p:pic>
      <mc:AlternateContent xmlns:mc="http://schemas.openxmlformats.org/markup-compatibility/2006">
        <mc:Choice xmlns:pslz="http://schemas.microsoft.com/office/powerpoint/2016/slidezoom" Requires="pslz">
          <p:graphicFrame>
            <p:nvGraphicFramePr>
              <p:cNvPr id="7" name="Ζουμ διαφάνειας 6">
                <a:extLst>
                  <a:ext uri="{FF2B5EF4-FFF2-40B4-BE49-F238E27FC236}">
                    <a16:creationId xmlns:a16="http://schemas.microsoft.com/office/drawing/2014/main" id="{C92D7FD2-BC61-4571-BD8E-21B62A8CC1DA}"/>
                  </a:ext>
                </a:extLst>
              </p:cNvPr>
              <p:cNvGraphicFramePr>
                <a:graphicFrameLocks noChangeAspect="1"/>
              </p:cNvGraphicFramePr>
              <p:nvPr>
                <p:extLst>
                  <p:ext uri="{D42A27DB-BD31-4B8C-83A1-F6EECF244321}">
                    <p14:modId xmlns:p14="http://schemas.microsoft.com/office/powerpoint/2010/main" val="2769961624"/>
                  </p:ext>
                </p:extLst>
              </p:nvPr>
            </p:nvGraphicFramePr>
            <p:xfrm>
              <a:off x="-2876550" y="1209675"/>
              <a:ext cx="3048000" cy="1714500"/>
            </p:xfrm>
            <a:graphic>
              <a:graphicData uri="http://schemas.microsoft.com/office/powerpoint/2016/slidezoom">
                <pslz:sldZm>
                  <pslz:sldZmObj sldId="273" cId="4120545466">
                    <pslz:zmPr id="{10F871BC-2F1D-4082-BDDD-B0278315D5D8}" returnToParent="0" transitionDur="1000">
                      <p166:blipFill xmlns:p166="http://schemas.microsoft.com/office/powerpoint/2016/6/main">
                        <a:blip r:embed="rId4"/>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p:pic>
            <p:nvPicPr>
              <p:cNvPr id="7" name="Ζουμ διαφάνειας 6">
                <a:extLst>
                  <a:ext uri="{FF2B5EF4-FFF2-40B4-BE49-F238E27FC236}">
                    <a16:creationId xmlns:a16="http://schemas.microsoft.com/office/drawing/2014/main" id="{C92D7FD2-BC61-4571-BD8E-21B62A8CC1DA}"/>
                  </a:ext>
                </a:extLst>
              </p:cNvPr>
              <p:cNvPicPr>
                <a:picLocks noGrp="1" noRot="1" noChangeAspect="1" noMove="1" noResize="1" noEditPoints="1" noAdjustHandles="1" noChangeArrowheads="1" noChangeShapeType="1"/>
              </p:cNvPicPr>
              <p:nvPr/>
            </p:nvPicPr>
            <p:blipFill>
              <a:blip r:embed="rId4"/>
              <a:stretch>
                <a:fillRect/>
              </a:stretch>
            </p:blipFill>
            <p:spPr>
              <a:xfrm>
                <a:off x="-2876550" y="1209675"/>
                <a:ext cx="3048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2495534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Εικόνα 4">
            <a:extLst>
              <a:ext uri="{FF2B5EF4-FFF2-40B4-BE49-F238E27FC236}">
                <a16:creationId xmlns:a16="http://schemas.microsoft.com/office/drawing/2014/main" id="{F2EBF7CE-933B-4EFD-985A-6DD13F9A12A0}"/>
              </a:ext>
            </a:extLst>
          </p:cNvPr>
          <p:cNvPicPr>
            <a:picLocks noChangeAspect="1"/>
          </p:cNvPicPr>
          <p:nvPr/>
        </p:nvPicPr>
        <p:blipFill rotWithShape="1">
          <a:blip r:embed="rId2">
            <a:extLst>
              <a:ext uri="{28A0092B-C50C-407E-A947-70E740481C1C}">
                <a14:useLocalDpi xmlns:a14="http://schemas.microsoft.com/office/drawing/2010/main" val="0"/>
              </a:ext>
            </a:extLst>
          </a:blip>
          <a:srcRect r="10476"/>
          <a:stretch/>
        </p:blipFill>
        <p:spPr>
          <a:xfrm>
            <a:off x="4646383" y="10"/>
            <a:ext cx="7545616" cy="6857990"/>
          </a:xfrm>
          <a:prstGeom prst="rect">
            <a:avLst/>
          </a:prstGeom>
        </p:spPr>
      </p:pic>
      <p:sp>
        <p:nvSpPr>
          <p:cNvPr id="30" name="Rectangle 9">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62210" cy="6858000"/>
          </a:xfrm>
          <a:prstGeom prst="rect">
            <a:avLst/>
          </a:prstGeom>
          <a:solidFill>
            <a:schemeClr val="bg1">
              <a:lumMod val="75000"/>
              <a:lumOff val="25000"/>
            </a:schemeClr>
          </a:solidFill>
          <a:ln w="6350" cap="sq" cmpd="sng" algn="ctr">
            <a:noFill/>
            <a:prstDash val="solid"/>
            <a:miter lim="800000"/>
          </a:ln>
          <a:effectLst/>
        </p:spPr>
      </p:sp>
      <p:sp>
        <p:nvSpPr>
          <p:cNvPr id="31" name="Rectangle 11">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3977" y="164592"/>
            <a:ext cx="4334256" cy="6528816"/>
          </a:xfrm>
          <a:prstGeom prst="rect">
            <a:avLst/>
          </a:prstGeom>
          <a:noFill/>
          <a:ln w="6350" cap="sq" cmpd="sng" algn="ctr">
            <a:solidFill>
              <a:schemeClr val="tx1"/>
            </a:solidFill>
            <a:prstDash val="solid"/>
            <a:miter lim="800000"/>
          </a:ln>
          <a:effectLst>
            <a:softEdge rad="0"/>
          </a:effectLst>
        </p:spPr>
      </p:sp>
      <p:sp>
        <p:nvSpPr>
          <p:cNvPr id="2" name="Τίτλος 1">
            <a:extLst>
              <a:ext uri="{FF2B5EF4-FFF2-40B4-BE49-F238E27FC236}">
                <a16:creationId xmlns:a16="http://schemas.microsoft.com/office/drawing/2014/main" id="{45A7FC5C-1D72-4B05-8E27-45E4F66EA539}"/>
              </a:ext>
            </a:extLst>
          </p:cNvPr>
          <p:cNvSpPr>
            <a:spLocks noGrp="1"/>
          </p:cNvSpPr>
          <p:nvPr>
            <p:ph type="ctrTitle"/>
          </p:nvPr>
        </p:nvSpPr>
        <p:spPr>
          <a:xfrm>
            <a:off x="466524" y="1340361"/>
            <a:ext cx="3729162" cy="3341700"/>
          </a:xfrm>
        </p:spPr>
        <p:txBody>
          <a:bodyPr>
            <a:normAutofit/>
          </a:bodyPr>
          <a:lstStyle/>
          <a:p>
            <a:r>
              <a:rPr lang="el-GR" sz="3100" dirty="0">
                <a:solidFill>
                  <a:schemeClr val="tx1"/>
                </a:solidFill>
              </a:rPr>
              <a:t>Πεδία </a:t>
            </a:r>
            <a:r>
              <a:rPr lang="el-GR" sz="3100" dirty="0" err="1">
                <a:solidFill>
                  <a:schemeClr val="tx1"/>
                </a:solidFill>
              </a:rPr>
              <a:t>Κβαντοποίησης</a:t>
            </a:r>
            <a:endParaRPr lang="el-GR" sz="3100" dirty="0">
              <a:solidFill>
                <a:schemeClr val="tx1"/>
              </a:solidFill>
            </a:endParaRPr>
          </a:p>
        </p:txBody>
      </p:sp>
      <mc:AlternateContent xmlns:mc="http://schemas.openxmlformats.org/markup-compatibility/2006">
        <mc:Choice xmlns:a14="http://schemas.microsoft.com/office/drawing/2010/main" Requires="a14">
          <p:sp>
            <p:nvSpPr>
              <p:cNvPr id="3" name="Υπότιτλος 2">
                <a:extLst>
                  <a:ext uri="{FF2B5EF4-FFF2-40B4-BE49-F238E27FC236}">
                    <a16:creationId xmlns:a16="http://schemas.microsoft.com/office/drawing/2014/main" id="{655C88C8-FE25-404C-9C80-9EF2F7397D36}"/>
                  </a:ext>
                </a:extLst>
              </p:cNvPr>
              <p:cNvSpPr>
                <a:spLocks noGrp="1"/>
              </p:cNvSpPr>
              <p:nvPr>
                <p:ph type="subTitle" idx="1"/>
              </p:nvPr>
            </p:nvSpPr>
            <p:spPr>
              <a:xfrm>
                <a:off x="434284" y="4731476"/>
                <a:ext cx="3793642" cy="1888399"/>
              </a:xfrm>
            </p:spPr>
            <p:txBody>
              <a:bodyPr>
                <a:normAutofit/>
              </a:bodyPr>
              <a:lstStyle/>
              <a:p>
                <a:r>
                  <a:rPr lang="en-US" dirty="0">
                    <a:solidFill>
                      <a:schemeClr val="tx1"/>
                    </a:solidFill>
                  </a:rPr>
                  <a:t>LSB=</a:t>
                </a:r>
                <a14:m>
                  <m:oMath xmlns:m="http://schemas.openxmlformats.org/officeDocument/2006/math">
                    <m:f>
                      <m:fPr>
                        <m:ctrlPr>
                          <a:rPr lang="el-GR" i="1" smtClean="0">
                            <a:solidFill>
                              <a:schemeClr val="tx1"/>
                            </a:solidFill>
                            <a:latin typeface="Cambria Math" panose="02040503050406030204" pitchFamily="18" charset="0"/>
                          </a:rPr>
                        </m:ctrlPr>
                      </m:fPr>
                      <m:num>
                        <m:sSub>
                          <m:sSubPr>
                            <m:ctrlPr>
                              <a:rPr lang="el-GR"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𝑉</m:t>
                            </m:r>
                          </m:e>
                          <m:sub>
                            <m:r>
                              <a:rPr lang="en-US" b="0" i="1" smtClean="0">
                                <a:solidFill>
                                  <a:schemeClr val="tx1"/>
                                </a:solidFill>
                                <a:latin typeface="Cambria Math" panose="02040503050406030204" pitchFamily="18" charset="0"/>
                              </a:rPr>
                              <m:t>𝑅𝐸𝐹</m:t>
                            </m:r>
                          </m:sub>
                        </m:sSub>
                      </m:num>
                      <m:den>
                        <m:sSup>
                          <m:sSupPr>
                            <m:ctrlPr>
                              <a:rPr lang="el-GR"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2</m:t>
                            </m:r>
                          </m:e>
                          <m:sup>
                            <m:r>
                              <a:rPr lang="en-US" b="0" i="1" smtClean="0">
                                <a:solidFill>
                                  <a:schemeClr val="tx1"/>
                                </a:solidFill>
                                <a:latin typeface="Cambria Math" panose="02040503050406030204" pitchFamily="18" charset="0"/>
                              </a:rPr>
                              <m:t>𝑛</m:t>
                            </m:r>
                          </m:sup>
                        </m:sSup>
                      </m:den>
                    </m:f>
                  </m:oMath>
                </a14:m>
                <a:endParaRPr lang="en-US" dirty="0">
                  <a:solidFill>
                    <a:schemeClr val="tx1"/>
                  </a:solidFill>
                </a:endParaRPr>
              </a:p>
              <a:p>
                <a:r>
                  <a:rPr lang="el-GR" dirty="0">
                    <a:solidFill>
                      <a:schemeClr val="tx1"/>
                    </a:solidFill>
                  </a:rPr>
                  <a:t>Έχοντας την </a:t>
                </a:r>
                <a:r>
                  <a:rPr lang="en-US" dirty="0">
                    <a:solidFill>
                      <a:schemeClr val="tx1"/>
                    </a:solidFill>
                  </a:rPr>
                  <a:t>LSB </a:t>
                </a:r>
                <a:r>
                  <a:rPr lang="el-GR" dirty="0">
                    <a:solidFill>
                      <a:schemeClr val="tx1"/>
                    </a:solidFill>
                  </a:rPr>
                  <a:t>βρίσκουμε τα </a:t>
                </a:r>
                <a:r>
                  <a:rPr lang="el-GR" dirty="0" err="1">
                    <a:solidFill>
                      <a:schemeClr val="tx1"/>
                    </a:solidFill>
                  </a:rPr>
                  <a:t>κβαντοποιημένα</a:t>
                </a:r>
                <a:r>
                  <a:rPr lang="el-GR" dirty="0">
                    <a:solidFill>
                      <a:schemeClr val="tx1"/>
                    </a:solidFill>
                  </a:rPr>
                  <a:t> πεδία</a:t>
                </a:r>
              </a:p>
              <a:p>
                <a:r>
                  <a:rPr lang="el-GR" dirty="0">
                    <a:solidFill>
                      <a:schemeClr val="tx1"/>
                    </a:solidFill>
                  </a:rPr>
                  <a:t>Όπου </a:t>
                </a:r>
                <a14:m>
                  <m:oMath xmlns:m="http://schemas.openxmlformats.org/officeDocument/2006/math">
                    <m:sSub>
                      <m:sSubPr>
                        <m:ctrlPr>
                          <a:rPr lang="el-GR"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𝑉</m:t>
                        </m:r>
                      </m:e>
                      <m:sub>
                        <m:r>
                          <a:rPr lang="en-US" b="0" i="1" smtClean="0">
                            <a:solidFill>
                              <a:schemeClr val="tx1"/>
                            </a:solidFill>
                            <a:latin typeface="Cambria Math" panose="02040503050406030204" pitchFamily="18" charset="0"/>
                          </a:rPr>
                          <m:t>𝑅𝐸𝐹</m:t>
                        </m:r>
                      </m:sub>
                    </m:sSub>
                  </m:oMath>
                </a14:m>
                <a:r>
                  <a:rPr lang="en-US" dirty="0">
                    <a:solidFill>
                      <a:schemeClr val="tx1"/>
                    </a:solidFill>
                  </a:rPr>
                  <a:t> </a:t>
                </a:r>
                <a:r>
                  <a:rPr lang="el-GR" dirty="0">
                    <a:solidFill>
                      <a:schemeClr val="tx1"/>
                    </a:solidFill>
                  </a:rPr>
                  <a:t>μια τάση αναφοράς και</a:t>
                </a:r>
                <a:r>
                  <a:rPr lang="el-GR" dirty="0"/>
                  <a:t> n η ανάλυση του μετατροπέα(</a:t>
                </a:r>
                <a:r>
                  <a:rPr lang="el-GR" dirty="0" err="1"/>
                  <a:t>bits</a:t>
                </a:r>
                <a:r>
                  <a:rPr lang="el-GR" dirty="0"/>
                  <a:t>)</a:t>
                </a:r>
                <a:r>
                  <a:rPr lang="en-US" dirty="0">
                    <a:solidFill>
                      <a:schemeClr val="tx1"/>
                    </a:solidFill>
                  </a:rPr>
                  <a:t> </a:t>
                </a:r>
                <a:endParaRPr lang="el-GR" dirty="0">
                  <a:solidFill>
                    <a:schemeClr val="tx1"/>
                  </a:solidFill>
                </a:endParaRPr>
              </a:p>
              <a:p>
                <a:endParaRPr lang="el-GR" dirty="0">
                  <a:solidFill>
                    <a:schemeClr val="tx1"/>
                  </a:solidFill>
                </a:endParaRPr>
              </a:p>
            </p:txBody>
          </p:sp>
        </mc:Choice>
        <mc:Fallback>
          <p:sp>
            <p:nvSpPr>
              <p:cNvPr id="3" name="Υπότιτλος 2">
                <a:extLst>
                  <a:ext uri="{FF2B5EF4-FFF2-40B4-BE49-F238E27FC236}">
                    <a16:creationId xmlns:a16="http://schemas.microsoft.com/office/drawing/2014/main" id="{655C88C8-FE25-404C-9C80-9EF2F7397D36}"/>
                  </a:ext>
                </a:extLst>
              </p:cNvPr>
              <p:cNvSpPr>
                <a:spLocks noGrp="1" noRot="1" noChangeAspect="1" noMove="1" noResize="1" noEditPoints="1" noAdjustHandles="1" noChangeArrowheads="1" noChangeShapeType="1" noTextEdit="1"/>
              </p:cNvSpPr>
              <p:nvPr>
                <p:ph type="subTitle" idx="1"/>
              </p:nvPr>
            </p:nvSpPr>
            <p:spPr>
              <a:xfrm>
                <a:off x="434284" y="4731476"/>
                <a:ext cx="3793642" cy="1888399"/>
              </a:xfrm>
              <a:blipFill>
                <a:blip r:embed="rId3"/>
                <a:stretch>
                  <a:fillRect l="-482" r="-2087"/>
                </a:stretch>
              </a:blipFill>
            </p:spPr>
            <p:txBody>
              <a:bodyPr/>
              <a:lstStyle/>
              <a:p>
                <a:r>
                  <a:rPr lang="el-GR">
                    <a:noFill/>
                  </a:rPr>
                  <a:t> </a:t>
                </a:r>
              </a:p>
            </p:txBody>
          </p:sp>
        </mc:Fallback>
      </mc:AlternateContent>
    </p:spTree>
    <p:extLst>
      <p:ext uri="{BB962C8B-B14F-4D97-AF65-F5344CB8AC3E}">
        <p14:creationId xmlns:p14="http://schemas.microsoft.com/office/powerpoint/2010/main" val="41205454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7CFB609-BCB5-48F3-A772-96674F30B8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F3266"/>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2251B70-2108-41BA-AC72-B834434C6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675873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Εικόνα 3">
            <a:extLst>
              <a:ext uri="{FF2B5EF4-FFF2-40B4-BE49-F238E27FC236}">
                <a16:creationId xmlns:a16="http://schemas.microsoft.com/office/drawing/2014/main" id="{B4B14E68-F470-4590-ADB2-82A0D9A19129}"/>
              </a:ext>
            </a:extLst>
          </p:cNvPr>
          <p:cNvPicPr>
            <a:picLocks noChangeAspect="1"/>
          </p:cNvPicPr>
          <p:nvPr/>
        </p:nvPicPr>
        <p:blipFill>
          <a:blip r:embed="rId2"/>
          <a:stretch>
            <a:fillRect/>
          </a:stretch>
        </p:blipFill>
        <p:spPr>
          <a:xfrm>
            <a:off x="643466" y="856971"/>
            <a:ext cx="5919259" cy="2282852"/>
          </a:xfrm>
          <a:prstGeom prst="rect">
            <a:avLst/>
          </a:prstGeom>
        </p:spPr>
      </p:pic>
      <p:pic>
        <p:nvPicPr>
          <p:cNvPr id="5" name="Εικόνα 4">
            <a:extLst>
              <a:ext uri="{FF2B5EF4-FFF2-40B4-BE49-F238E27FC236}">
                <a16:creationId xmlns:a16="http://schemas.microsoft.com/office/drawing/2014/main" id="{3678EC53-DEF1-41C9-A4F0-6E71EE39D218}"/>
              </a:ext>
            </a:extLst>
          </p:cNvPr>
          <p:cNvPicPr>
            <a:picLocks noChangeAspect="1"/>
          </p:cNvPicPr>
          <p:nvPr/>
        </p:nvPicPr>
        <p:blipFill>
          <a:blip r:embed="rId3"/>
          <a:stretch>
            <a:fillRect/>
          </a:stretch>
        </p:blipFill>
        <p:spPr>
          <a:xfrm>
            <a:off x="600500" y="3722288"/>
            <a:ext cx="5962225" cy="2226051"/>
          </a:xfrm>
          <a:prstGeom prst="rect">
            <a:avLst/>
          </a:prstGeom>
        </p:spPr>
      </p:pic>
      <p:sp>
        <p:nvSpPr>
          <p:cNvPr id="14" name="Rectangle 13">
            <a:extLst>
              <a:ext uri="{FF2B5EF4-FFF2-40B4-BE49-F238E27FC236}">
                <a16:creationId xmlns:a16="http://schemas.microsoft.com/office/drawing/2014/main" id="{1D2369D4-64C4-40CA-B2FC-743453FA2B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1973" y="643464"/>
            <a:ext cx="4143830" cy="5566305"/>
          </a:xfrm>
          <a:prstGeom prst="rect">
            <a:avLst/>
          </a:prstGeom>
          <a:solidFill>
            <a:schemeClr val="bg1">
              <a:lumMod val="85000"/>
              <a:lumOff val="15000"/>
            </a:schemeClr>
          </a:solidFill>
          <a:ln w="6350" cap="flat" cmpd="sng" algn="ctr">
            <a:noFill/>
            <a:prstDash val="solid"/>
          </a:ln>
          <a:effectLst>
            <a:outerShdw blurRad="50800" algn="ctr" rotWithShape="0">
              <a:prstClr val="black">
                <a:alpha val="66000"/>
              </a:prstClr>
            </a:outerShdw>
            <a:softEdge rad="0"/>
          </a:effectLst>
        </p:spPr>
      </p:sp>
      <p:sp>
        <p:nvSpPr>
          <p:cNvPr id="16" name="Rectangle 15">
            <a:extLst>
              <a:ext uri="{FF2B5EF4-FFF2-40B4-BE49-F238E27FC236}">
                <a16:creationId xmlns:a16="http://schemas.microsoft.com/office/drawing/2014/main" id="{73AD138D-C229-40D8-842E-020743C022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7364" y="806860"/>
            <a:ext cx="3813048" cy="5239512"/>
          </a:xfrm>
          <a:prstGeom prst="rect">
            <a:avLst/>
          </a:prstGeom>
          <a:noFill/>
          <a:ln w="6350" cap="sq" cmpd="sng" algn="ctr">
            <a:solidFill>
              <a:schemeClr val="tx1">
                <a:lumMod val="75000"/>
                <a:lumOff val="25000"/>
              </a:schemeClr>
            </a:solidFill>
            <a:prstDash val="solid"/>
            <a:miter lim="800000"/>
          </a:ln>
          <a:effectLst/>
        </p:spPr>
      </p:sp>
      <p:sp>
        <p:nvSpPr>
          <p:cNvPr id="2" name="Τίτλος 1">
            <a:extLst>
              <a:ext uri="{FF2B5EF4-FFF2-40B4-BE49-F238E27FC236}">
                <a16:creationId xmlns:a16="http://schemas.microsoft.com/office/drawing/2014/main" id="{EBC29820-DA52-4531-A5E3-DAFB1BB3281B}"/>
              </a:ext>
            </a:extLst>
          </p:cNvPr>
          <p:cNvSpPr>
            <a:spLocks noGrp="1"/>
          </p:cNvSpPr>
          <p:nvPr>
            <p:ph type="ctrTitle"/>
          </p:nvPr>
        </p:nvSpPr>
        <p:spPr>
          <a:xfrm>
            <a:off x="7844638" y="1600200"/>
            <a:ext cx="3238501" cy="931977"/>
          </a:xfrm>
        </p:spPr>
        <p:txBody>
          <a:bodyPr>
            <a:normAutofit/>
          </a:bodyPr>
          <a:lstStyle/>
          <a:p>
            <a:r>
              <a:rPr lang="el-GR" sz="3000" dirty="0"/>
              <a:t>Πειραματικές μετρήσεις</a:t>
            </a:r>
          </a:p>
        </p:txBody>
      </p:sp>
      <p:sp>
        <p:nvSpPr>
          <p:cNvPr id="3" name="Υπότιτλος 2">
            <a:extLst>
              <a:ext uri="{FF2B5EF4-FFF2-40B4-BE49-F238E27FC236}">
                <a16:creationId xmlns:a16="http://schemas.microsoft.com/office/drawing/2014/main" id="{591B369E-FA61-41FF-836E-E2249A305090}"/>
              </a:ext>
            </a:extLst>
          </p:cNvPr>
          <p:cNvSpPr>
            <a:spLocks noGrp="1"/>
          </p:cNvSpPr>
          <p:nvPr>
            <p:ph type="subTitle" idx="1"/>
          </p:nvPr>
        </p:nvSpPr>
        <p:spPr>
          <a:xfrm>
            <a:off x="7844638" y="2695574"/>
            <a:ext cx="3238500" cy="3252765"/>
          </a:xfrm>
        </p:spPr>
        <p:txBody>
          <a:bodyPr>
            <a:normAutofit lnSpcReduction="10000"/>
          </a:bodyPr>
          <a:lstStyle/>
          <a:p>
            <a:r>
              <a:rPr lang="el-GR" dirty="0"/>
              <a:t>Οι </a:t>
            </a:r>
            <a:r>
              <a:rPr lang="el-GR" dirty="0" err="1"/>
              <a:t>εκτιμούμενες</a:t>
            </a:r>
            <a:r>
              <a:rPr lang="el-GR" dirty="0"/>
              <a:t> μετρήσεις γίνανε σύμφωνα με τις εξισώσεις στα αριστερά.</a:t>
            </a:r>
          </a:p>
          <a:p>
            <a:endParaRPr lang="el-GR" dirty="0"/>
          </a:p>
          <a:p>
            <a:r>
              <a:rPr lang="el-GR" dirty="0"/>
              <a:t>p είναι η τρέχουσα πίεση σε PSI</a:t>
            </a:r>
          </a:p>
          <a:p>
            <a:endParaRPr lang="el-GR" dirty="0"/>
          </a:p>
          <a:p>
            <a:r>
              <a:rPr lang="el-GR" dirty="0" err="1"/>
              <a:t>pmin</a:t>
            </a:r>
            <a:r>
              <a:rPr lang="el-GR" dirty="0"/>
              <a:t> είναι η καθορισμένη ελάχιστη πίεση σε PSI </a:t>
            </a:r>
          </a:p>
          <a:p>
            <a:endParaRPr lang="el-GR" dirty="0"/>
          </a:p>
          <a:p>
            <a:r>
              <a:rPr lang="el-GR" dirty="0" err="1"/>
              <a:t>pmax</a:t>
            </a:r>
            <a:r>
              <a:rPr lang="el-GR" dirty="0"/>
              <a:t> η καθορισμένη μέγιστη πίεση σε PSI </a:t>
            </a:r>
          </a:p>
        </p:txBody>
      </p:sp>
      <p:sp>
        <p:nvSpPr>
          <p:cNvPr id="18" name="Rectangle 17">
            <a:extLst>
              <a:ext uri="{FF2B5EF4-FFF2-40B4-BE49-F238E27FC236}">
                <a16:creationId xmlns:a16="http://schemas.microsoft.com/office/drawing/2014/main" id="{2B1BAE5E-7CC8-40AD-9A7E-0469E24407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3768" y="640856"/>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20" name="Straight Connector 19">
            <a:extLst>
              <a:ext uri="{FF2B5EF4-FFF2-40B4-BE49-F238E27FC236}">
                <a16:creationId xmlns:a16="http://schemas.microsoft.com/office/drawing/2014/main" id="{101E6AB6-0657-4BF2-816B-443C9809C45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8068"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493DB97-1EF9-40FC-9DAC-B23D646962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309708"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FD9D93B-46F0-47D0-9A9E-8E60DA3FA8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8068" y="1286150"/>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03244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F7CFB609-BCB5-48F3-A772-96674F30B8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C3063"/>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52251B70-2108-41BA-AC72-B834434C6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675873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Εικόνα 3">
            <a:extLst>
              <a:ext uri="{FF2B5EF4-FFF2-40B4-BE49-F238E27FC236}">
                <a16:creationId xmlns:a16="http://schemas.microsoft.com/office/drawing/2014/main" id="{6663A1EE-21B8-457F-83C8-BC5F4083A709}"/>
              </a:ext>
            </a:extLst>
          </p:cNvPr>
          <p:cNvPicPr>
            <a:picLocks noChangeAspect="1"/>
          </p:cNvPicPr>
          <p:nvPr/>
        </p:nvPicPr>
        <p:blipFill>
          <a:blip r:embed="rId2"/>
          <a:stretch>
            <a:fillRect/>
          </a:stretch>
        </p:blipFill>
        <p:spPr>
          <a:xfrm>
            <a:off x="643466" y="864910"/>
            <a:ext cx="6113401" cy="2266975"/>
          </a:xfrm>
          <a:prstGeom prst="rect">
            <a:avLst/>
          </a:prstGeom>
        </p:spPr>
      </p:pic>
      <p:pic>
        <p:nvPicPr>
          <p:cNvPr id="5" name="Εικόνα 4">
            <a:extLst>
              <a:ext uri="{FF2B5EF4-FFF2-40B4-BE49-F238E27FC236}">
                <a16:creationId xmlns:a16="http://schemas.microsoft.com/office/drawing/2014/main" id="{57CC271F-9A80-43EE-8B49-1FC3A11F0B4A}"/>
              </a:ext>
            </a:extLst>
          </p:cNvPr>
          <p:cNvPicPr>
            <a:picLocks noChangeAspect="1"/>
          </p:cNvPicPr>
          <p:nvPr/>
        </p:nvPicPr>
        <p:blipFill>
          <a:blip r:embed="rId3"/>
          <a:stretch>
            <a:fillRect/>
          </a:stretch>
        </p:blipFill>
        <p:spPr>
          <a:xfrm>
            <a:off x="600500" y="3851199"/>
            <a:ext cx="6173084" cy="1968229"/>
          </a:xfrm>
          <a:prstGeom prst="rect">
            <a:avLst/>
          </a:prstGeom>
        </p:spPr>
      </p:pic>
      <p:sp>
        <p:nvSpPr>
          <p:cNvPr id="33" name="Rectangle 32">
            <a:extLst>
              <a:ext uri="{FF2B5EF4-FFF2-40B4-BE49-F238E27FC236}">
                <a16:creationId xmlns:a16="http://schemas.microsoft.com/office/drawing/2014/main" id="{1D2369D4-64C4-40CA-B2FC-743453FA2B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1973" y="643464"/>
            <a:ext cx="4143830" cy="5566305"/>
          </a:xfrm>
          <a:prstGeom prst="rect">
            <a:avLst/>
          </a:prstGeom>
          <a:solidFill>
            <a:schemeClr val="bg1">
              <a:lumMod val="85000"/>
              <a:lumOff val="15000"/>
            </a:schemeClr>
          </a:solidFill>
          <a:ln w="6350" cap="flat" cmpd="sng" algn="ctr">
            <a:noFill/>
            <a:prstDash val="solid"/>
          </a:ln>
          <a:effectLst>
            <a:outerShdw blurRad="50800" algn="ctr" rotWithShape="0">
              <a:prstClr val="black">
                <a:alpha val="66000"/>
              </a:prstClr>
            </a:outerShdw>
            <a:softEdge rad="0"/>
          </a:effectLst>
        </p:spPr>
      </p:sp>
      <p:sp>
        <p:nvSpPr>
          <p:cNvPr id="35" name="Rectangle 34">
            <a:extLst>
              <a:ext uri="{FF2B5EF4-FFF2-40B4-BE49-F238E27FC236}">
                <a16:creationId xmlns:a16="http://schemas.microsoft.com/office/drawing/2014/main" id="{73AD138D-C229-40D8-842E-020743C022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7364" y="806860"/>
            <a:ext cx="3813048" cy="5239512"/>
          </a:xfrm>
          <a:prstGeom prst="rect">
            <a:avLst/>
          </a:prstGeom>
          <a:noFill/>
          <a:ln w="6350" cap="sq" cmpd="sng" algn="ctr">
            <a:solidFill>
              <a:schemeClr val="tx1">
                <a:lumMod val="75000"/>
                <a:lumOff val="25000"/>
              </a:schemeClr>
            </a:solidFill>
            <a:prstDash val="solid"/>
            <a:miter lim="800000"/>
          </a:ln>
          <a:effectLst/>
        </p:spPr>
      </p:sp>
      <p:sp>
        <p:nvSpPr>
          <p:cNvPr id="2" name="Τίτλος 1">
            <a:extLst>
              <a:ext uri="{FF2B5EF4-FFF2-40B4-BE49-F238E27FC236}">
                <a16:creationId xmlns:a16="http://schemas.microsoft.com/office/drawing/2014/main" id="{3D02E727-30B7-47A1-91C5-2B4587A98D24}"/>
              </a:ext>
            </a:extLst>
          </p:cNvPr>
          <p:cNvSpPr>
            <a:spLocks noGrp="1"/>
          </p:cNvSpPr>
          <p:nvPr>
            <p:ph type="ctrTitle"/>
          </p:nvPr>
        </p:nvSpPr>
        <p:spPr>
          <a:xfrm>
            <a:off x="7844638" y="1600200"/>
            <a:ext cx="3238501" cy="1114425"/>
          </a:xfrm>
        </p:spPr>
        <p:txBody>
          <a:bodyPr>
            <a:normAutofit/>
          </a:bodyPr>
          <a:lstStyle/>
          <a:p>
            <a:r>
              <a:rPr lang="el-GR" sz="3000" dirty="0"/>
              <a:t>Πειραματικές μετρήσεις(2)</a:t>
            </a:r>
          </a:p>
        </p:txBody>
      </p:sp>
      <p:sp>
        <p:nvSpPr>
          <p:cNvPr id="3" name="Υπότιτλος 2">
            <a:extLst>
              <a:ext uri="{FF2B5EF4-FFF2-40B4-BE49-F238E27FC236}">
                <a16:creationId xmlns:a16="http://schemas.microsoft.com/office/drawing/2014/main" id="{D7AF18F2-835D-4BDA-A5EA-4F889A13B0AF}"/>
              </a:ext>
            </a:extLst>
          </p:cNvPr>
          <p:cNvSpPr>
            <a:spLocks noGrp="1"/>
          </p:cNvSpPr>
          <p:nvPr>
            <p:ph type="subTitle" idx="1"/>
          </p:nvPr>
        </p:nvSpPr>
        <p:spPr>
          <a:xfrm>
            <a:off x="7844638" y="2533651"/>
            <a:ext cx="3238500" cy="3234690"/>
          </a:xfrm>
        </p:spPr>
        <p:txBody>
          <a:bodyPr>
            <a:normAutofit fontScale="92500" lnSpcReduction="20000"/>
          </a:bodyPr>
          <a:lstStyle/>
          <a:p>
            <a:r>
              <a:rPr lang="el-GR" dirty="0" err="1"/>
              <a:t>Digoutp</a:t>
            </a:r>
            <a:r>
              <a:rPr lang="el-GR" dirty="0"/>
              <a:t>(p) είναι η τρέχουσα τιμή ψηφιακής πίεσης σε </a:t>
            </a:r>
            <a:r>
              <a:rPr lang="el-GR" dirty="0" err="1"/>
              <a:t>counts</a:t>
            </a:r>
            <a:endParaRPr lang="el-GR" dirty="0"/>
          </a:p>
          <a:p>
            <a:endParaRPr lang="el-GR" dirty="0"/>
          </a:p>
          <a:p>
            <a:r>
              <a:rPr lang="el-GR" dirty="0" err="1"/>
              <a:t>Digoutpmin</a:t>
            </a:r>
            <a:r>
              <a:rPr lang="el-GR" dirty="0"/>
              <a:t> και </a:t>
            </a:r>
            <a:r>
              <a:rPr lang="el-GR" dirty="0" err="1"/>
              <a:t>Digoutpmax</a:t>
            </a:r>
            <a:r>
              <a:rPr lang="el-GR" dirty="0"/>
              <a:t> είναι οι τιμές ψηφιακής πίεσης ελάχιστης και μέγιστης καθορισμένης πίεσης σε </a:t>
            </a:r>
            <a:r>
              <a:rPr lang="el-GR" dirty="0" err="1"/>
              <a:t>counts</a:t>
            </a:r>
            <a:r>
              <a:rPr lang="el-GR" dirty="0"/>
              <a:t> αντίστοιχα</a:t>
            </a:r>
          </a:p>
          <a:p>
            <a:endParaRPr lang="el-GR" dirty="0"/>
          </a:p>
          <a:p>
            <a:r>
              <a:rPr lang="el-GR" dirty="0"/>
              <a:t>Το </a:t>
            </a:r>
            <a:r>
              <a:rPr lang="el-GR" dirty="0" err="1"/>
              <a:t>Sensp</a:t>
            </a:r>
            <a:r>
              <a:rPr lang="el-GR" dirty="0"/>
              <a:t> είναι η ευαισθησία του αισθητήρα πίεσης με μονάδα μέτρησης </a:t>
            </a:r>
            <a:r>
              <a:rPr lang="el-GR" dirty="0" err="1"/>
              <a:t>counts</a:t>
            </a:r>
            <a:r>
              <a:rPr lang="el-GR" dirty="0"/>
              <a:t>/PSI</a:t>
            </a:r>
          </a:p>
          <a:p>
            <a:endParaRPr lang="el-GR" dirty="0"/>
          </a:p>
          <a:p>
            <a:r>
              <a:rPr lang="el-GR" dirty="0"/>
              <a:t>Τα ανάλογα ισχύουν και για τον τύπο Τ και </a:t>
            </a:r>
            <a:r>
              <a:rPr lang="en-US" dirty="0" err="1"/>
              <a:t>SensT</a:t>
            </a:r>
            <a:r>
              <a:rPr lang="en-US" dirty="0"/>
              <a:t>.</a:t>
            </a:r>
            <a:endParaRPr lang="el-GR" dirty="0"/>
          </a:p>
        </p:txBody>
      </p:sp>
      <p:sp>
        <p:nvSpPr>
          <p:cNvPr id="37" name="Rectangle 36">
            <a:extLst>
              <a:ext uri="{FF2B5EF4-FFF2-40B4-BE49-F238E27FC236}">
                <a16:creationId xmlns:a16="http://schemas.microsoft.com/office/drawing/2014/main" id="{2B1BAE5E-7CC8-40AD-9A7E-0469E24407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3768" y="640856"/>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39" name="Straight Connector 38">
            <a:extLst>
              <a:ext uri="{FF2B5EF4-FFF2-40B4-BE49-F238E27FC236}">
                <a16:creationId xmlns:a16="http://schemas.microsoft.com/office/drawing/2014/main" id="{101E6AB6-0657-4BF2-816B-443C9809C45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8068"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493DB97-1EF9-40FC-9DAC-B23D646962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309708"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FD9D93B-46F0-47D0-9A9E-8E60DA3FA8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8068" y="1286150"/>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337171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A4E4267-CAF0-4C38-8DC6-CD3B1A9F04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EE3ACC5-126D-4BA4-8B45-7F0B5B839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84"/>
            <a:ext cx="12192000" cy="6858000"/>
          </a:xfrm>
          <a:prstGeom prst="rect">
            <a:avLst/>
          </a:prstGeom>
          <a:blipFill dpi="0" rotWithShape="1">
            <a:blip r:embed="rId2">
              <a:alphaModFix amt="40000"/>
              <a:duotone>
                <a:schemeClr val="accent1">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Rectangle 14">
            <a:extLst>
              <a:ext uri="{FF2B5EF4-FFF2-40B4-BE49-F238E27FC236}">
                <a16:creationId xmlns:a16="http://schemas.microsoft.com/office/drawing/2014/main" id="{AB2868F7-FE10-4289-A5BD-90763C7A2F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3866" cy="6858000"/>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16">
            <a:extLst>
              <a:ext uri="{FF2B5EF4-FFF2-40B4-BE49-F238E27FC236}">
                <a16:creationId xmlns:a16="http://schemas.microsoft.com/office/drawing/2014/main" id="{BD94142C-10EE-487C-A327-404FDF358F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6197" y="643464"/>
            <a:ext cx="4143830" cy="5566305"/>
          </a:xfrm>
          <a:prstGeom prst="rect">
            <a:avLst/>
          </a:prstGeom>
          <a:solidFill>
            <a:schemeClr val="tx1">
              <a:lumMod val="75000"/>
              <a:lumOff val="25000"/>
            </a:schemeClr>
          </a:solidFill>
          <a:ln w="6350" cap="flat" cmpd="sng" algn="ctr">
            <a:noFill/>
            <a:prstDash val="solid"/>
          </a:ln>
          <a:effectLst>
            <a:outerShdw blurRad="50800" algn="ctr" rotWithShape="0">
              <a:prstClr val="black">
                <a:alpha val="66000"/>
              </a:prstClr>
            </a:outerShdw>
            <a:softEdge rad="0"/>
          </a:effectLst>
        </p:spPr>
      </p:sp>
      <p:sp>
        <p:nvSpPr>
          <p:cNvPr id="28" name="Rectangle 18">
            <a:extLst>
              <a:ext uri="{FF2B5EF4-FFF2-40B4-BE49-F238E27FC236}">
                <a16:creationId xmlns:a16="http://schemas.microsoft.com/office/drawing/2014/main" id="{5F7FAC2D-7A74-4939-A917-A1A5AF935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1587" y="806860"/>
            <a:ext cx="3813048" cy="5239512"/>
          </a:xfrm>
          <a:prstGeom prst="rect">
            <a:avLst/>
          </a:prstGeom>
          <a:noFill/>
          <a:ln w="6350" cap="sq" cmpd="sng" algn="ctr">
            <a:solidFill>
              <a:schemeClr val="bg1"/>
            </a:solidFill>
            <a:prstDash val="solid"/>
            <a:miter lim="800000"/>
          </a:ln>
          <a:effectLst/>
        </p:spPr>
      </p:sp>
      <p:sp>
        <p:nvSpPr>
          <p:cNvPr id="2" name="Τίτλος 1">
            <a:extLst>
              <a:ext uri="{FF2B5EF4-FFF2-40B4-BE49-F238E27FC236}">
                <a16:creationId xmlns:a16="http://schemas.microsoft.com/office/drawing/2014/main" id="{F8DF7F23-05C2-412A-BC90-F891A635A61C}"/>
              </a:ext>
            </a:extLst>
          </p:cNvPr>
          <p:cNvSpPr>
            <a:spLocks noGrp="1"/>
          </p:cNvSpPr>
          <p:nvPr>
            <p:ph type="ctrTitle"/>
          </p:nvPr>
        </p:nvSpPr>
        <p:spPr>
          <a:xfrm>
            <a:off x="1256493" y="1559768"/>
            <a:ext cx="2978281" cy="3135379"/>
          </a:xfrm>
        </p:spPr>
        <p:txBody>
          <a:bodyPr>
            <a:normAutofit/>
          </a:bodyPr>
          <a:lstStyle/>
          <a:p>
            <a:r>
              <a:rPr lang="el-GR" sz="3000">
                <a:solidFill>
                  <a:schemeClr val="bg1"/>
                </a:solidFill>
              </a:rPr>
              <a:t>Πειραματικές μετρήσεις(3)</a:t>
            </a:r>
          </a:p>
        </p:txBody>
      </p:sp>
      <p:sp>
        <p:nvSpPr>
          <p:cNvPr id="3" name="Υπότιτλος 2">
            <a:extLst>
              <a:ext uri="{FF2B5EF4-FFF2-40B4-BE49-F238E27FC236}">
                <a16:creationId xmlns:a16="http://schemas.microsoft.com/office/drawing/2014/main" id="{FC3722D3-B6EA-4A3D-BBA8-AE7003BE44C0}"/>
              </a:ext>
            </a:extLst>
          </p:cNvPr>
          <p:cNvSpPr>
            <a:spLocks noGrp="1"/>
          </p:cNvSpPr>
          <p:nvPr>
            <p:ph type="subTitle" idx="1"/>
          </p:nvPr>
        </p:nvSpPr>
        <p:spPr>
          <a:xfrm>
            <a:off x="1256493" y="4708186"/>
            <a:ext cx="2978282" cy="992223"/>
          </a:xfrm>
        </p:spPr>
        <p:txBody>
          <a:bodyPr>
            <a:normAutofit/>
          </a:bodyPr>
          <a:lstStyle/>
          <a:p>
            <a:pPr>
              <a:spcAft>
                <a:spcPts val="600"/>
              </a:spcAft>
            </a:pPr>
            <a:r>
              <a:rPr lang="el-GR" sz="1400" dirty="0">
                <a:solidFill>
                  <a:schemeClr val="bg1"/>
                </a:solidFill>
              </a:rPr>
              <a:t>Εκτιμώμενες τιμές από τους παραπάνω τύπους</a:t>
            </a:r>
          </a:p>
        </p:txBody>
      </p:sp>
      <p:sp>
        <p:nvSpPr>
          <p:cNvPr id="29" name="Rectangle 20">
            <a:extLst>
              <a:ext uri="{FF2B5EF4-FFF2-40B4-BE49-F238E27FC236}">
                <a16:creationId xmlns:a16="http://schemas.microsoft.com/office/drawing/2014/main" id="{BA53A868-C420-4BAE-9244-EC162AF05C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7992" y="640856"/>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23" name="Straight Connector 22">
            <a:extLst>
              <a:ext uri="{FF2B5EF4-FFF2-40B4-BE49-F238E27FC236}">
                <a16:creationId xmlns:a16="http://schemas.microsoft.com/office/drawing/2014/main" id="{C2686EF3-81CC-419F-96C3-002A758803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82292"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8D93CCA-A85E-4529-A6F0-8BB54D27BC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73932"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ECFA516-C18C-41AE-AFF2-A0D0A59C9E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82292" y="1286150"/>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pic>
        <p:nvPicPr>
          <p:cNvPr id="6" name="Εικόνα 5">
            <a:extLst>
              <a:ext uri="{FF2B5EF4-FFF2-40B4-BE49-F238E27FC236}">
                <a16:creationId xmlns:a16="http://schemas.microsoft.com/office/drawing/2014/main" id="{F8EF2FDB-56D4-4F17-AEE4-1BEC6C055F5B}"/>
              </a:ext>
            </a:extLst>
          </p:cNvPr>
          <p:cNvPicPr>
            <a:picLocks noChangeAspect="1"/>
          </p:cNvPicPr>
          <p:nvPr/>
        </p:nvPicPr>
        <p:blipFill>
          <a:blip r:embed="rId3"/>
          <a:stretch>
            <a:fillRect/>
          </a:stretch>
        </p:blipFill>
        <p:spPr>
          <a:xfrm>
            <a:off x="6034017" y="645106"/>
            <a:ext cx="4827344" cy="5564663"/>
          </a:xfrm>
          <a:prstGeom prst="rect">
            <a:avLst/>
          </a:prstGeom>
        </p:spPr>
      </p:pic>
    </p:spTree>
    <p:extLst>
      <p:ext uri="{BB962C8B-B14F-4D97-AF65-F5344CB8AC3E}">
        <p14:creationId xmlns:p14="http://schemas.microsoft.com/office/powerpoint/2010/main" val="382179729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Εικόνα 4">
            <a:extLst>
              <a:ext uri="{FF2B5EF4-FFF2-40B4-BE49-F238E27FC236}">
                <a16:creationId xmlns:a16="http://schemas.microsoft.com/office/drawing/2014/main" id="{BD1F4C48-F82C-4938-AA5E-0AE4D2D9D7DB}"/>
              </a:ext>
            </a:extLst>
          </p:cNvPr>
          <p:cNvPicPr>
            <a:picLocks noChangeAspect="1"/>
          </p:cNvPicPr>
          <p:nvPr/>
        </p:nvPicPr>
        <p:blipFill rotWithShape="1">
          <a:blip r:embed="rId2">
            <a:extLst>
              <a:ext uri="{28A0092B-C50C-407E-A947-70E740481C1C}">
                <a14:useLocalDpi xmlns:a14="http://schemas.microsoft.com/office/drawing/2010/main" val="0"/>
              </a:ext>
            </a:extLst>
          </a:blip>
          <a:srcRect r="4890" b="1"/>
          <a:stretch/>
        </p:blipFill>
        <p:spPr>
          <a:xfrm>
            <a:off x="0" y="0"/>
            <a:ext cx="12191980" cy="6857990"/>
          </a:xfrm>
          <a:prstGeom prst="rect">
            <a:avLst/>
          </a:prstGeom>
        </p:spPr>
      </p:pic>
      <p:sp>
        <p:nvSpPr>
          <p:cNvPr id="12" name="Rectangle 11">
            <a:extLst>
              <a:ext uri="{FF2B5EF4-FFF2-40B4-BE49-F238E27FC236}">
                <a16:creationId xmlns:a16="http://schemas.microsoft.com/office/drawing/2014/main" id="{A44CD100-6267-4E62-AA64-2182A3A6A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alpha val="30000"/>
                </a:schemeClr>
              </a:gs>
              <a:gs pos="33000">
                <a:schemeClr val="bg1">
                  <a:alpha val="20000"/>
                </a:schemeClr>
              </a:gs>
              <a:gs pos="0">
                <a:schemeClr val="bg1">
                  <a:alpha val="0"/>
                </a:schemeClr>
              </a:gs>
              <a:gs pos="100000">
                <a:schemeClr val="bg1">
                  <a:alpha val="3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Τίτλος 1">
            <a:extLst>
              <a:ext uri="{FF2B5EF4-FFF2-40B4-BE49-F238E27FC236}">
                <a16:creationId xmlns:a16="http://schemas.microsoft.com/office/drawing/2014/main" id="{B7306556-2330-42B8-9B62-EC7802977344}"/>
              </a:ext>
            </a:extLst>
          </p:cNvPr>
          <p:cNvSpPr>
            <a:spLocks noGrp="1"/>
          </p:cNvSpPr>
          <p:nvPr>
            <p:ph type="ctrTitle"/>
          </p:nvPr>
        </p:nvSpPr>
        <p:spPr>
          <a:xfrm>
            <a:off x="3726006" y="-123825"/>
            <a:ext cx="4023360" cy="886106"/>
          </a:xfrm>
        </p:spPr>
        <p:txBody>
          <a:bodyPr anchor="b">
            <a:normAutofit/>
          </a:bodyPr>
          <a:lstStyle/>
          <a:p>
            <a:pPr algn="l"/>
            <a:r>
              <a:rPr lang="en-US" sz="3200" dirty="0"/>
              <a:t>PARETO-</a:t>
            </a:r>
            <a:r>
              <a:rPr lang="el-GR" sz="3200" dirty="0"/>
              <a:t>ΑΝΆΛΥΣΗ</a:t>
            </a:r>
          </a:p>
        </p:txBody>
      </p:sp>
    </p:spTree>
    <p:extLst>
      <p:ext uri="{BB962C8B-B14F-4D97-AF65-F5344CB8AC3E}">
        <p14:creationId xmlns:p14="http://schemas.microsoft.com/office/powerpoint/2010/main" val="3338777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A4E4267-CAF0-4C38-8DC6-CD3B1A9F04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EE3ACC5-126D-4BA4-8B45-7F0B5B839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84"/>
            <a:ext cx="12192000" cy="6858000"/>
          </a:xfrm>
          <a:prstGeom prst="rect">
            <a:avLst/>
          </a:prstGeom>
          <a:blipFill dpi="0" rotWithShape="1">
            <a:blip r:embed="rId2">
              <a:alphaModFix amt="40000"/>
              <a:duotone>
                <a:schemeClr val="accent1">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a:extLst>
              <a:ext uri="{FF2B5EF4-FFF2-40B4-BE49-F238E27FC236}">
                <a16:creationId xmlns:a16="http://schemas.microsoft.com/office/drawing/2014/main" id="{AB2868F7-FE10-4289-A5BD-90763C7A2F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3866" cy="6858000"/>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D94142C-10EE-487C-A327-404FDF358F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6197" y="643464"/>
            <a:ext cx="4143830" cy="5566305"/>
          </a:xfrm>
          <a:prstGeom prst="rect">
            <a:avLst/>
          </a:prstGeom>
          <a:solidFill>
            <a:schemeClr val="tx1">
              <a:lumMod val="75000"/>
              <a:lumOff val="25000"/>
            </a:schemeClr>
          </a:solidFill>
          <a:ln w="6350" cap="flat" cmpd="sng" algn="ctr">
            <a:noFill/>
            <a:prstDash val="solid"/>
          </a:ln>
          <a:effectLst>
            <a:outerShdw blurRad="50800" algn="ctr" rotWithShape="0">
              <a:prstClr val="black">
                <a:alpha val="66000"/>
              </a:prstClr>
            </a:outerShdw>
            <a:softEdge rad="0"/>
          </a:effectLst>
        </p:spPr>
      </p:sp>
      <p:sp>
        <p:nvSpPr>
          <p:cNvPr id="21" name="Rectangle 20">
            <a:extLst>
              <a:ext uri="{FF2B5EF4-FFF2-40B4-BE49-F238E27FC236}">
                <a16:creationId xmlns:a16="http://schemas.microsoft.com/office/drawing/2014/main" id="{5F7FAC2D-7A74-4939-A917-A1A5AF935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1587" y="806860"/>
            <a:ext cx="3813048" cy="5239512"/>
          </a:xfrm>
          <a:prstGeom prst="rect">
            <a:avLst/>
          </a:prstGeom>
          <a:noFill/>
          <a:ln w="6350" cap="sq" cmpd="sng" algn="ctr">
            <a:solidFill>
              <a:schemeClr val="bg1"/>
            </a:solidFill>
            <a:prstDash val="solid"/>
            <a:miter lim="800000"/>
          </a:ln>
          <a:effectLst/>
        </p:spPr>
      </p:sp>
      <p:sp>
        <p:nvSpPr>
          <p:cNvPr id="2" name="Τίτλος 1">
            <a:extLst>
              <a:ext uri="{FF2B5EF4-FFF2-40B4-BE49-F238E27FC236}">
                <a16:creationId xmlns:a16="http://schemas.microsoft.com/office/drawing/2014/main" id="{25B16F48-1A24-4F01-A049-EA2186EFC53D}"/>
              </a:ext>
            </a:extLst>
          </p:cNvPr>
          <p:cNvSpPr>
            <a:spLocks noGrp="1"/>
          </p:cNvSpPr>
          <p:nvPr>
            <p:ph type="ctrTitle"/>
          </p:nvPr>
        </p:nvSpPr>
        <p:spPr>
          <a:xfrm>
            <a:off x="1256493" y="1559768"/>
            <a:ext cx="2978281" cy="3135379"/>
          </a:xfrm>
        </p:spPr>
        <p:txBody>
          <a:bodyPr>
            <a:normAutofit/>
          </a:bodyPr>
          <a:lstStyle/>
          <a:p>
            <a:r>
              <a:rPr lang="el-GR" sz="2300">
                <a:solidFill>
                  <a:schemeClr val="bg1"/>
                </a:solidFill>
              </a:rPr>
              <a:t>ΠρΌτΑσΗ Βελτιστοποίησης Συστήματος</a:t>
            </a:r>
          </a:p>
        </p:txBody>
      </p:sp>
      <p:sp>
        <p:nvSpPr>
          <p:cNvPr id="3" name="Υπότιτλος 2">
            <a:extLst>
              <a:ext uri="{FF2B5EF4-FFF2-40B4-BE49-F238E27FC236}">
                <a16:creationId xmlns:a16="http://schemas.microsoft.com/office/drawing/2014/main" id="{6A4AF7BF-8B2F-44D8-B788-249F8AD55E52}"/>
              </a:ext>
            </a:extLst>
          </p:cNvPr>
          <p:cNvSpPr>
            <a:spLocks noGrp="1"/>
          </p:cNvSpPr>
          <p:nvPr>
            <p:ph type="subTitle" idx="1"/>
          </p:nvPr>
        </p:nvSpPr>
        <p:spPr>
          <a:xfrm>
            <a:off x="1256493" y="4708186"/>
            <a:ext cx="2978282" cy="992223"/>
          </a:xfrm>
        </p:spPr>
        <p:txBody>
          <a:bodyPr>
            <a:normAutofit/>
          </a:bodyPr>
          <a:lstStyle/>
          <a:p>
            <a:pPr>
              <a:spcAft>
                <a:spcPts val="600"/>
              </a:spcAft>
            </a:pPr>
            <a:r>
              <a:rPr lang="el-GR" sz="1400">
                <a:solidFill>
                  <a:schemeClr val="bg1"/>
                </a:solidFill>
              </a:rPr>
              <a:t>Διασύνδεση μονάδας </a:t>
            </a:r>
            <a:r>
              <a:rPr lang="en-US" sz="1400">
                <a:solidFill>
                  <a:schemeClr val="bg1"/>
                </a:solidFill>
              </a:rPr>
              <a:t>DMA </a:t>
            </a:r>
            <a:endParaRPr lang="el-GR" sz="1400">
              <a:solidFill>
                <a:schemeClr val="bg1"/>
              </a:solidFill>
            </a:endParaRPr>
          </a:p>
        </p:txBody>
      </p:sp>
      <p:sp>
        <p:nvSpPr>
          <p:cNvPr id="23" name="Rectangle 22">
            <a:extLst>
              <a:ext uri="{FF2B5EF4-FFF2-40B4-BE49-F238E27FC236}">
                <a16:creationId xmlns:a16="http://schemas.microsoft.com/office/drawing/2014/main" id="{BA53A868-C420-4BAE-9244-EC162AF05C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7992" y="640856"/>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25" name="Straight Connector 24">
            <a:extLst>
              <a:ext uri="{FF2B5EF4-FFF2-40B4-BE49-F238E27FC236}">
                <a16:creationId xmlns:a16="http://schemas.microsoft.com/office/drawing/2014/main" id="{C2686EF3-81CC-419F-96C3-002A758803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82292"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8D93CCA-A85E-4529-A6F0-8BB54D27BC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73932"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ECFA516-C18C-41AE-AFF2-A0D0A59C9E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82292" y="1286150"/>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pic>
        <p:nvPicPr>
          <p:cNvPr id="8" name="Εικόνα 7">
            <a:extLst>
              <a:ext uri="{FF2B5EF4-FFF2-40B4-BE49-F238E27FC236}">
                <a16:creationId xmlns:a16="http://schemas.microsoft.com/office/drawing/2014/main" id="{03D588D3-5811-41E9-9805-10AD396A08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46570" y="1489239"/>
            <a:ext cx="6202238" cy="3876397"/>
          </a:xfrm>
          <a:prstGeom prst="rect">
            <a:avLst/>
          </a:prstGeom>
        </p:spPr>
      </p:pic>
    </p:spTree>
    <p:extLst>
      <p:ext uri="{BB962C8B-B14F-4D97-AF65-F5344CB8AC3E}">
        <p14:creationId xmlns:p14="http://schemas.microsoft.com/office/powerpoint/2010/main" val="22206030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CB742A7C-097C-48AA-91AE-9C470D6BB465}"/>
              </a:ext>
            </a:extLst>
          </p:cNvPr>
          <p:cNvSpPr>
            <a:spLocks noGrp="1"/>
          </p:cNvSpPr>
          <p:nvPr>
            <p:ph type="ctrTitle"/>
          </p:nvPr>
        </p:nvSpPr>
        <p:spPr>
          <a:xfrm>
            <a:off x="1629103" y="1943100"/>
            <a:ext cx="8933796" cy="685800"/>
          </a:xfrm>
        </p:spPr>
        <p:txBody>
          <a:bodyPr>
            <a:normAutofit fontScale="90000"/>
          </a:bodyPr>
          <a:lstStyle/>
          <a:p>
            <a:r>
              <a:rPr lang="el-GR" dirty="0"/>
              <a:t>ΑΝΑΦΟΡΈΣ</a:t>
            </a:r>
          </a:p>
        </p:txBody>
      </p:sp>
      <p:sp>
        <p:nvSpPr>
          <p:cNvPr id="3" name="Υπότιτλος 2">
            <a:extLst>
              <a:ext uri="{FF2B5EF4-FFF2-40B4-BE49-F238E27FC236}">
                <a16:creationId xmlns:a16="http://schemas.microsoft.com/office/drawing/2014/main" id="{CAC95769-CB86-43E5-B35B-8A0064512A73}"/>
              </a:ext>
            </a:extLst>
          </p:cNvPr>
          <p:cNvSpPr>
            <a:spLocks noGrp="1"/>
          </p:cNvSpPr>
          <p:nvPr>
            <p:ph type="subTitle" idx="1"/>
          </p:nvPr>
        </p:nvSpPr>
        <p:spPr>
          <a:xfrm>
            <a:off x="1505276" y="2628900"/>
            <a:ext cx="8936846" cy="2781300"/>
          </a:xfrm>
        </p:spPr>
        <p:txBody>
          <a:bodyPr>
            <a:normAutofit lnSpcReduction="10000"/>
          </a:bodyPr>
          <a:lstStyle/>
          <a:p>
            <a:pPr marL="285750" indent="-285750">
              <a:buFont typeface="Arial" panose="020B0604020202020204" pitchFamily="34" charset="0"/>
              <a:buChar char="•"/>
            </a:pPr>
            <a:r>
              <a:rPr lang="el-GR" dirty="0"/>
              <a:t>Μηνάς </a:t>
            </a:r>
            <a:r>
              <a:rPr lang="el-GR" dirty="0" err="1"/>
              <a:t>Δασυγένης</a:t>
            </a:r>
            <a:r>
              <a:rPr lang="el-GR" dirty="0"/>
              <a:t> και Δημήτριος </a:t>
            </a:r>
            <a:r>
              <a:rPr lang="el-GR" dirty="0" err="1"/>
              <a:t>Σούντρης</a:t>
            </a:r>
            <a:r>
              <a:rPr lang="el-GR" dirty="0"/>
              <a:t>, Εισαγωγή στις Ενσωματωμένα Συστήματα Ο αθέατος Ψηφιακός Κόσμος, Μηνάς </a:t>
            </a:r>
            <a:r>
              <a:rPr lang="el-GR" dirty="0" err="1"/>
              <a:t>Δασυγένης</a:t>
            </a:r>
            <a:r>
              <a:rPr lang="el-GR" dirty="0"/>
              <a:t>, ISBN:978-960- 603-390-2, </a:t>
            </a:r>
            <a:r>
              <a:rPr lang="el-GR" dirty="0" err="1"/>
              <a:t>Copyright</a:t>
            </a:r>
            <a:r>
              <a:rPr lang="el-GR" dirty="0"/>
              <a:t> ΣΕΑΒ. 2015</a:t>
            </a:r>
          </a:p>
          <a:p>
            <a:pPr marL="285750" indent="-285750">
              <a:buFont typeface="Arial" panose="020B0604020202020204" pitchFamily="34" charset="0"/>
              <a:buChar char="•"/>
            </a:pPr>
            <a:endParaRPr lang="el-GR" dirty="0"/>
          </a:p>
          <a:p>
            <a:pPr marL="285750" indent="-285750">
              <a:buFont typeface="Arial" panose="020B0604020202020204" pitchFamily="34" charset="0"/>
              <a:buChar char="•"/>
            </a:pPr>
            <a:r>
              <a:rPr lang="el-GR" dirty="0"/>
              <a:t>ΚΩΝΣΤΑΝΤΙΝΟΣ ΚΑΛΟΒΡΕΚΤΗΣ, Βασικές Δομές Ενσωματωμένων Συστημάτων, ΕΚΔΟΣΕΙΣ ΒΑΡΒΑΡΗΓΟΥ, </a:t>
            </a:r>
            <a:r>
              <a:rPr lang="en-US" dirty="0"/>
              <a:t>ISBN:978-960-7996-80-0, </a:t>
            </a:r>
            <a:r>
              <a:rPr lang="en-US" dirty="0" err="1"/>
              <a:t>Copyright©VARMAR</a:t>
            </a:r>
            <a:r>
              <a:rPr lang="en-US" dirty="0"/>
              <a:t> Publications® </a:t>
            </a:r>
          </a:p>
          <a:p>
            <a:pPr marL="285750" indent="-285750">
              <a:buFont typeface="Arial" panose="020B0604020202020204" pitchFamily="34" charset="0"/>
              <a:buChar char="•"/>
            </a:pPr>
            <a:endParaRPr lang="el-GR" dirty="0"/>
          </a:p>
          <a:p>
            <a:pPr marL="285750" indent="-285750">
              <a:buFont typeface="Arial" panose="020B0604020202020204" pitchFamily="34" charset="0"/>
              <a:buChar char="•"/>
            </a:pPr>
            <a:r>
              <a:rPr lang="en-US" dirty="0"/>
              <a:t>https://www.analog-micro.com/products/pressure-sensors/ board-mount-pressure-sensors/ams5812/ams5812-datasheet.pdf</a:t>
            </a:r>
            <a:endParaRPr lang="el-GR" dirty="0"/>
          </a:p>
          <a:p>
            <a:endParaRPr lang="el-GR" dirty="0"/>
          </a:p>
          <a:p>
            <a:endParaRPr lang="el-GR" dirty="0"/>
          </a:p>
        </p:txBody>
      </p:sp>
    </p:spTree>
    <p:extLst>
      <p:ext uri="{BB962C8B-B14F-4D97-AF65-F5344CB8AC3E}">
        <p14:creationId xmlns:p14="http://schemas.microsoft.com/office/powerpoint/2010/main" val="3181667849"/>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A927C3B-99B6-4CC8-9B17-E037F84995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solidFill>
          <a:ln w="6350" cap="sq" cmpd="sng" algn="ctr">
            <a:noFill/>
            <a:prstDash val="solid"/>
            <a:miter lim="800000"/>
          </a:ln>
          <a:effectLst/>
        </p:spPr>
      </p:sp>
      <p:sp>
        <p:nvSpPr>
          <p:cNvPr id="10" name="Rectangle 9">
            <a:extLst>
              <a:ext uri="{FF2B5EF4-FFF2-40B4-BE49-F238E27FC236}">
                <a16:creationId xmlns:a16="http://schemas.microsoft.com/office/drawing/2014/main" id="{1C1D606D-4DA3-4806-8F40-02982F4AD0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42" y="643464"/>
            <a:ext cx="10905291" cy="5571072"/>
          </a:xfrm>
          <a:prstGeom prst="rect">
            <a:avLst/>
          </a:prstGeom>
          <a:solidFill>
            <a:srgbClr val="FFFFFF"/>
          </a:solidFill>
          <a:ln w="9525" cap="flat" cmpd="sng" algn="ctr">
            <a:noFill/>
            <a:prstDash val="solid"/>
          </a:ln>
          <a:effectLst>
            <a:softEdge rad="0"/>
          </a:effectLst>
        </p:spPr>
      </p:sp>
      <p:sp useBgFill="1">
        <p:nvSpPr>
          <p:cNvPr id="12" name="Rectangle 11">
            <a:extLst>
              <a:ext uri="{FF2B5EF4-FFF2-40B4-BE49-F238E27FC236}">
                <a16:creationId xmlns:a16="http://schemas.microsoft.com/office/drawing/2014/main" id="{CD7A4F52-D451-483C-8243-5B0F83B91D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6680" y="809244"/>
            <a:ext cx="10579608" cy="5239512"/>
          </a:xfrm>
          <a:prstGeom prst="rect">
            <a:avLst/>
          </a:prstGeom>
          <a:ln w="6350" cap="sq" cmpd="sng" algn="ctr">
            <a:noFill/>
            <a:prstDash val="solid"/>
            <a:miter lim="800000"/>
          </a:ln>
          <a:effectLst/>
        </p:spPr>
      </p:sp>
      <p:sp>
        <p:nvSpPr>
          <p:cNvPr id="2" name="Τίτλος 1">
            <a:extLst>
              <a:ext uri="{FF2B5EF4-FFF2-40B4-BE49-F238E27FC236}">
                <a16:creationId xmlns:a16="http://schemas.microsoft.com/office/drawing/2014/main" id="{05839CE7-038E-4803-B7C0-59388E4F08D5}"/>
              </a:ext>
            </a:extLst>
          </p:cNvPr>
          <p:cNvSpPr>
            <a:spLocks noGrp="1"/>
          </p:cNvSpPr>
          <p:nvPr>
            <p:ph type="ctrTitle"/>
          </p:nvPr>
        </p:nvSpPr>
        <p:spPr>
          <a:xfrm>
            <a:off x="1336431" y="1260389"/>
            <a:ext cx="6315562" cy="4335616"/>
          </a:xfrm>
        </p:spPr>
        <p:txBody>
          <a:bodyPr>
            <a:normAutofit/>
          </a:bodyPr>
          <a:lstStyle/>
          <a:p>
            <a:pPr algn="r"/>
            <a:r>
              <a:rPr lang="el-GR" sz="6000">
                <a:solidFill>
                  <a:schemeClr val="tx1"/>
                </a:solidFill>
              </a:rPr>
              <a:t>ΤΈΛΟΣ ΠΑΡΟΥΣΙΑΣΗΣ</a:t>
            </a:r>
          </a:p>
        </p:txBody>
      </p:sp>
      <p:sp>
        <p:nvSpPr>
          <p:cNvPr id="3" name="Υπότιτλος 2">
            <a:extLst>
              <a:ext uri="{FF2B5EF4-FFF2-40B4-BE49-F238E27FC236}">
                <a16:creationId xmlns:a16="http://schemas.microsoft.com/office/drawing/2014/main" id="{58D602CD-512F-4C88-84F9-C97A50B3384B}"/>
              </a:ext>
            </a:extLst>
          </p:cNvPr>
          <p:cNvSpPr>
            <a:spLocks noGrp="1"/>
          </p:cNvSpPr>
          <p:nvPr>
            <p:ph type="subTitle" idx="1"/>
          </p:nvPr>
        </p:nvSpPr>
        <p:spPr>
          <a:xfrm>
            <a:off x="8413205" y="1260389"/>
            <a:ext cx="2658449" cy="4334006"/>
          </a:xfrm>
        </p:spPr>
        <p:txBody>
          <a:bodyPr anchor="ctr">
            <a:normAutofit/>
          </a:bodyPr>
          <a:lstStyle/>
          <a:p>
            <a:pPr algn="l">
              <a:spcAft>
                <a:spcPts val="600"/>
              </a:spcAft>
            </a:pPr>
            <a:r>
              <a:rPr lang="el-GR" sz="2000" b="1" i="1" dirty="0"/>
              <a:t>Σας Ευχαριστώ πολύ για το ενδιαφέρον και τον χρόνο σας!!!</a:t>
            </a:r>
            <a:endParaRPr lang="el-GR" sz="2000" dirty="0">
              <a:solidFill>
                <a:schemeClr val="tx1"/>
              </a:solidFill>
            </a:endParaRPr>
          </a:p>
        </p:txBody>
      </p:sp>
      <p:cxnSp>
        <p:nvCxnSpPr>
          <p:cNvPr id="14" name="Straight Connector 13">
            <a:extLst>
              <a:ext uri="{FF2B5EF4-FFF2-40B4-BE49-F238E27FC236}">
                <a16:creationId xmlns:a16="http://schemas.microsoft.com/office/drawing/2014/main" id="{23413C9D-32A8-4475-92E1-327E029906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2" y="2057401"/>
            <a:ext cx="0" cy="2743200"/>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43261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Custom 8">
      <a:dk1>
        <a:sysClr val="windowText" lastClr="000000"/>
      </a:dk1>
      <a:lt1>
        <a:sysClr val="window" lastClr="FFFFFF"/>
      </a:lt1>
      <a:dk2>
        <a:srgbClr val="696464"/>
      </a:dk2>
      <a:lt2>
        <a:srgbClr val="E9E5DC"/>
      </a:lt2>
      <a:accent1>
        <a:srgbClr val="96A9A9"/>
      </a:accent1>
      <a:accent2>
        <a:srgbClr val="CB581F"/>
      </a:accent2>
      <a:accent3>
        <a:srgbClr val="A28E6A"/>
      </a:accent3>
      <a:accent4>
        <a:srgbClr val="956251"/>
      </a:accent4>
      <a:accent5>
        <a:srgbClr val="918485"/>
      </a:accent5>
      <a:accent6>
        <a:srgbClr val="855D5D"/>
      </a:accent6>
      <a:hlink>
        <a:srgbClr val="D0690C"/>
      </a:hlink>
      <a:folHlink>
        <a:srgbClr val="9696A0"/>
      </a:folHlink>
    </a:clrScheme>
    <a:fontScheme name="Savon">
      <a:maj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1471</Words>
  <Application>Microsoft Office PowerPoint</Application>
  <PresentationFormat>Ευρεία οθόνη</PresentationFormat>
  <Paragraphs>97</Paragraphs>
  <Slides>25</Slides>
  <Notes>0</Notes>
  <HiddenSlides>0</HiddenSlides>
  <MMClips>0</MMClips>
  <ScaleCrop>false</ScaleCrop>
  <HeadingPairs>
    <vt:vector size="6" baseType="variant">
      <vt:variant>
        <vt:lpstr>Γραμματοσειρές που χρησιμοποιούνται</vt:lpstr>
      </vt:variant>
      <vt:variant>
        <vt:i4>4</vt:i4>
      </vt:variant>
      <vt:variant>
        <vt:lpstr>Θέμα</vt:lpstr>
      </vt:variant>
      <vt:variant>
        <vt:i4>1</vt:i4>
      </vt:variant>
      <vt:variant>
        <vt:lpstr>Τίτλοι διαφανειών</vt:lpstr>
      </vt:variant>
      <vt:variant>
        <vt:i4>25</vt:i4>
      </vt:variant>
    </vt:vector>
  </HeadingPairs>
  <TitlesOfParts>
    <vt:vector size="30" baseType="lpstr">
      <vt:lpstr>Arial</vt:lpstr>
      <vt:lpstr>Calibri</vt:lpstr>
      <vt:lpstr>Cambria Math</vt:lpstr>
      <vt:lpstr>Garamond</vt:lpstr>
      <vt:lpstr>SavonVTI</vt:lpstr>
      <vt:lpstr>ΕΝΣΩΜΑΤΩΜΕΝΑ ΣΥΣΤΗΜΑΤΑ</vt:lpstr>
      <vt:lpstr>ΠερΊληψη </vt:lpstr>
      <vt:lpstr>Περιγραφή συσκευής HUD</vt:lpstr>
      <vt:lpstr>Ανάγκες του HUD</vt:lpstr>
      <vt:lpstr>Ανάγκες του HUD(2)</vt:lpstr>
      <vt:lpstr>Ανάγκες του HUD(3)</vt:lpstr>
      <vt:lpstr>Φόρμα απαιτήσεων συσκευής HUD</vt:lpstr>
      <vt:lpstr>Φόρμα απαιτήσεων συσκευής HUD(2)</vt:lpstr>
      <vt:lpstr>Φόρμα απαιτήσεων συσκευής HUD(3)</vt:lpstr>
      <vt:lpstr>Φόρμα απαιτήσεων συσκευής HUD(4)</vt:lpstr>
      <vt:lpstr>ανάγκες των αισθητήρων HUD</vt:lpstr>
      <vt:lpstr>Αρχιτεκτονική Λογισμικού</vt:lpstr>
      <vt:lpstr>Αρχιτεκτονική Υλικού</vt:lpstr>
      <vt:lpstr>Στοιχεία Επεξεργαστή</vt:lpstr>
      <vt:lpstr>Στοιχεία ΜνΉμης SRAM &amp; FLASH</vt:lpstr>
      <vt:lpstr>Σχεδιασμός συνολικού Συστήματος</vt:lpstr>
      <vt:lpstr>Υλοποίηση υποσυστήματος Αισθητήρων</vt:lpstr>
      <vt:lpstr>Πεδία Κβαντοποίησης</vt:lpstr>
      <vt:lpstr>Πειραματικές μετρήσεις</vt:lpstr>
      <vt:lpstr>Πειραματικές μετρήσεις(2)</vt:lpstr>
      <vt:lpstr>Πειραματικές μετρήσεις(3)</vt:lpstr>
      <vt:lpstr>PARETO-ΑΝΆΛΥΣΗ</vt:lpstr>
      <vt:lpstr>ΠρΌτΑσΗ Βελτιστοποίησης Συστήματος</vt:lpstr>
      <vt:lpstr>ΑΝΑΦΟΡΈΣ</vt:lpstr>
      <vt:lpstr>ΤΈΛΟΣ ΠΑΡΟΥΣΙΑΣΗΣ</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ΕΝΣΩΜΑΤΩΜΕΝΑ ΣΥΣΤΗΜΑΤΑ</dc:title>
  <dc:creator>Γιωργος</dc:creator>
  <cp:lastModifiedBy>Γιωργος</cp:lastModifiedBy>
  <cp:revision>4</cp:revision>
  <dcterms:created xsi:type="dcterms:W3CDTF">2021-01-18T21:02:30Z</dcterms:created>
  <dcterms:modified xsi:type="dcterms:W3CDTF">2021-01-18T21:33:30Z</dcterms:modified>
</cp:coreProperties>
</file>